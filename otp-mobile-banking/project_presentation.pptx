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7"/>
  </p:notesMasterIdLst>
  <p:sldIdLst>
    <p:sldId id="276" r:id="rId5"/>
    <p:sldId id="257" r:id="rId6"/>
    <p:sldId id="258" r:id="rId7"/>
    <p:sldId id="275" r:id="rId8"/>
    <p:sldId id="261" r:id="rId9"/>
    <p:sldId id="263" r:id="rId10"/>
    <p:sldId id="273" r:id="rId11"/>
    <p:sldId id="259" r:id="rId12"/>
    <p:sldId id="266" r:id="rId13"/>
    <p:sldId id="267" r:id="rId14"/>
    <p:sldId id="269" r:id="rId15"/>
    <p:sldId id="274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25F3"/>
    <a:srgbClr val="090909"/>
    <a:srgbClr val="FFFFFF"/>
    <a:srgbClr val="FFFF99"/>
    <a:srgbClr val="843D84"/>
    <a:srgbClr val="AEC2DB"/>
    <a:srgbClr val="006570"/>
    <a:srgbClr val="A257FF"/>
    <a:srgbClr val="CCE0F9"/>
    <a:srgbClr val="9770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128420-E927-4743-9903-A92EF5B2F853}" v="731" dt="2026-03-15T21:47:04.1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79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110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90DE63-DC45-43D0-B4B1-B0BA39D55B50}" type="datetimeFigureOut">
              <a:rPr lang="ru-RU" smtClean="0"/>
              <a:t>03.07.2026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26811E-0E43-4700-A29E-816F3E3C47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3342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34560ef998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34560ef998_1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6811E-0E43-4700-A29E-816F3E3C4774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7784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3a2177e151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3a2177e151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6811E-0E43-4700-A29E-816F3E3C4774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63993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6811E-0E43-4700-A29E-816F3E3C4774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15443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01200-0CB5-46C5-8C0D-A9B4515082BF}" type="datetimeFigureOut">
              <a:rPr lang="ru-RU" smtClean="0"/>
              <a:t>03.07.2026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120DC-5589-452F-9D37-0B470D40BB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1532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01200-0CB5-46C5-8C0D-A9B4515082BF}" type="datetimeFigureOut">
              <a:rPr lang="ru-RU" smtClean="0"/>
              <a:t>03.07.2026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120DC-5589-452F-9D37-0B470D40BB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8285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01200-0CB5-46C5-8C0D-A9B4515082BF}" type="datetimeFigureOut">
              <a:rPr lang="ru-RU" smtClean="0"/>
              <a:t>03.07.2026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120DC-5589-452F-9D37-0B470D40BB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2927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01200-0CB5-46C5-8C0D-A9B4515082BF}" type="datetimeFigureOut">
              <a:rPr lang="ru-RU" smtClean="0"/>
              <a:t>03.07.2026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120DC-5589-452F-9D37-0B470D40BB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7749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01200-0CB5-46C5-8C0D-A9B4515082BF}" type="datetimeFigureOut">
              <a:rPr lang="ru-RU" smtClean="0"/>
              <a:t>03.07.2026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120DC-5589-452F-9D37-0B470D40BB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484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01200-0CB5-46C5-8C0D-A9B4515082BF}" type="datetimeFigureOut">
              <a:rPr lang="ru-RU" smtClean="0"/>
              <a:t>03.07.2026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120DC-5589-452F-9D37-0B470D40BB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3586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01200-0CB5-46C5-8C0D-A9B4515082BF}" type="datetimeFigureOut">
              <a:rPr lang="ru-RU" smtClean="0"/>
              <a:t>03.07.2026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120DC-5589-452F-9D37-0B470D40BB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4169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01200-0CB5-46C5-8C0D-A9B4515082BF}" type="datetimeFigureOut">
              <a:rPr lang="ru-RU" smtClean="0"/>
              <a:t>03.07.2026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120DC-5589-452F-9D37-0B470D40BB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1732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01200-0CB5-46C5-8C0D-A9B4515082BF}" type="datetimeFigureOut">
              <a:rPr lang="ru-RU" smtClean="0"/>
              <a:t>03.07.2026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120DC-5589-452F-9D37-0B470D40BB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6333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01200-0CB5-46C5-8C0D-A9B4515082BF}" type="datetimeFigureOut">
              <a:rPr lang="ru-RU" smtClean="0"/>
              <a:t>03.07.2026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120DC-5589-452F-9D37-0B470D40BB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4502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01200-0CB5-46C5-8C0D-A9B4515082BF}" type="datetimeFigureOut">
              <a:rPr lang="ru-RU" smtClean="0"/>
              <a:t>03.07.2026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120DC-5589-452F-9D37-0B470D40BB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9921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401200-0CB5-46C5-8C0D-A9B4515082BF}" type="datetimeFigureOut">
              <a:rPr lang="ru-RU" smtClean="0"/>
              <a:t>03.07.2026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2120DC-5589-452F-9D37-0B470D40BB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765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5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hyperlink" Target="https://www.figma.com/proto/5cZsbtoKNyBttn59TzjIek/Lo-fi--%D0%9E%D0%A2%D0%9F?node-id=19-14&amp;p=f&amp;t=mZ9REfWf32l0MmB4-1&amp;scaling=scale-down&amp;content-scaling=fixed&amp;page-id=0%3A1&amp;starting-point-node-id=19%3A14&amp;show-proto-sidebar=1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7.png"/><Relationship Id="rId7" Type="http://schemas.openxmlformats.org/officeDocument/2006/relationships/hyperlink" Target="https://www.figma.com/proto/5cZsbtoKNyBttn59TzjIek/Lo-fi--%D0%9E%D0%A2%D0%9F?node-id=19-14&amp;p=f&amp;t=mZ9REfWf32l0MmB4-1&amp;scaling=scale-down&amp;content-scaling=fixed&amp;page-id=0%3A1&amp;starting-point-node-id=19%3A14&amp;show-proto-sidebar=1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ntrepreneur chasing money with butterfly net (источник: Getty Images)">
            <a:extLst>
              <a:ext uri="{FF2B5EF4-FFF2-40B4-BE49-F238E27FC236}">
                <a16:creationId xmlns:a16="http://schemas.microsoft.com/office/drawing/2014/main" id="{A51F0B5D-1DCF-A629-1D0B-C3F5D46A2C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45"/>
          <a:stretch>
            <a:fillRect/>
          </a:stretch>
        </p:blipFill>
        <p:spPr bwMode="auto">
          <a:xfrm>
            <a:off x="2220363" y="66528"/>
            <a:ext cx="7503740" cy="4628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7" name="Google Shape;97;p24"/>
          <p:cNvSpPr/>
          <p:nvPr/>
        </p:nvSpPr>
        <p:spPr>
          <a:xfrm>
            <a:off x="-1" y="3429200"/>
            <a:ext cx="12192000" cy="3428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 dirty="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98" name="Google Shape;98;p24"/>
          <p:cNvSpPr txBox="1"/>
          <p:nvPr/>
        </p:nvSpPr>
        <p:spPr>
          <a:xfrm>
            <a:off x="240000" y="3650821"/>
            <a:ext cx="11024800" cy="2166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80000"/>
              </a:lnSpc>
            </a:pPr>
            <a:r>
              <a:rPr lang="ru-RU" sz="8800" dirty="0">
                <a:latin typeface="Inter Medium" panose="020B0604020202020204" charset="0"/>
                <a:ea typeface="Inter Medium" panose="020B0604020202020204" charset="0"/>
                <a:cs typeface="Aharoni" panose="020F0502020204030204" pitchFamily="2" charset="-79"/>
              </a:rPr>
              <a:t>Сделаем</a:t>
            </a:r>
            <a:r>
              <a:rPr lang="ru-RU" sz="8800" dirty="0">
                <a:latin typeface="Inter Medium" panose="020B0604020202020204" charset="0"/>
                <a:ea typeface="Inter Medium" panose="020B0604020202020204" charset="0"/>
              </a:rPr>
              <a:t> витрину </a:t>
            </a:r>
            <a:r>
              <a:rPr lang="en-US" sz="8800" dirty="0">
                <a:latin typeface="Inter Medium" panose="020B0604020202020204" charset="0"/>
                <a:ea typeface="Inter Medium" panose="020B0604020202020204" charset="0"/>
              </a:rPr>
              <a:t>Great </a:t>
            </a:r>
            <a:r>
              <a:rPr lang="en-US" sz="8800" dirty="0">
                <a:solidFill>
                  <a:srgbClr val="0B25F3"/>
                </a:solidFill>
                <a:latin typeface="Inter Medium" panose="020B0604020202020204" charset="0"/>
                <a:ea typeface="Inter Medium" panose="020B0604020202020204" charset="0"/>
              </a:rPr>
              <a:t>Again</a:t>
            </a:r>
            <a:endParaRPr sz="8800" dirty="0">
              <a:solidFill>
                <a:srgbClr val="0B25F3"/>
              </a:solidFill>
              <a:latin typeface="Inter Medium" panose="020B0604020202020204" charset="0"/>
              <a:ea typeface="Inter Medium" panose="020B0604020202020204" charset="0"/>
              <a:cs typeface="Inter Medium"/>
              <a:sym typeface="Inter Medium"/>
            </a:endParaRPr>
          </a:p>
        </p:txBody>
      </p:sp>
      <p:sp>
        <p:nvSpPr>
          <p:cNvPr id="99" name="Google Shape;99;p24"/>
          <p:cNvSpPr txBox="1"/>
          <p:nvPr/>
        </p:nvSpPr>
        <p:spPr>
          <a:xfrm>
            <a:off x="363791" y="6415330"/>
            <a:ext cx="4132800" cy="2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r>
              <a:rPr lang="en-US" sz="2400" b="1" dirty="0">
                <a:solidFill>
                  <a:srgbClr val="090909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CUP IT 2026</a:t>
            </a:r>
            <a:endParaRPr sz="2400" b="1" dirty="0">
              <a:solidFill>
                <a:srgbClr val="090909"/>
              </a:solidFill>
              <a:latin typeface="Inter Medium" panose="020B0604020202020204" charset="0"/>
              <a:ea typeface="Inter Medium" panose="020B0604020202020204" charset="0"/>
              <a:cs typeface="Inter Medium"/>
              <a:sym typeface="Inter Medium"/>
            </a:endParaRPr>
          </a:p>
        </p:txBody>
      </p:sp>
      <p:sp>
        <p:nvSpPr>
          <p:cNvPr id="100" name="Google Shape;100;p24"/>
          <p:cNvSpPr txBox="1"/>
          <p:nvPr/>
        </p:nvSpPr>
        <p:spPr>
          <a:xfrm>
            <a:off x="4294633" y="6432000"/>
            <a:ext cx="1547200" cy="2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r>
              <a:rPr lang="ru" sz="1200" dirty="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Автор презентации</a:t>
            </a:r>
            <a:endParaRPr sz="1200" dirty="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5CA5567-E5C8-E221-3356-AD87185C4C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4103" y="5961115"/>
            <a:ext cx="2104106" cy="830356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6A03260-85B4-DD80-2C86-31DD90A6EB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9239" y="6039189"/>
            <a:ext cx="3306322" cy="75228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dea pitching, fund raising and venture capital, selling startup business or merger agreement concept. Businessmen shake hands. Successful business negotiation, partnership. (источник: Getty Images)">
            <a:extLst>
              <a:ext uri="{FF2B5EF4-FFF2-40B4-BE49-F238E27FC236}">
                <a16:creationId xmlns:a16="http://schemas.microsoft.com/office/drawing/2014/main" id="{BC63E123-5769-0213-55B6-9647158351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055" b="56494" l="2100" r="19385">
                        <a14:foregroundMark x1="1904" y1="42725" x2="6787" y2="55225"/>
                        <a14:foregroundMark x1="6787" y1="55225" x2="17139" y2="49023"/>
                        <a14:foregroundMark x1="17139" y1="49023" x2="19385" y2="45459"/>
                        <a14:foregroundMark x1="15283" y1="52979" x2="17188" y2="39795"/>
                        <a14:foregroundMark x1="17188" y1="39795" x2="7275" y2="33350"/>
                        <a14:foregroundMark x1="7275" y1="33350" x2="1318" y2="44971"/>
                        <a14:foregroundMark x1="1318" y1="44971" x2="6250" y2="56494"/>
                        <a14:foregroundMark x1="6250" y1="56494" x2="13965" y2="55029"/>
                        <a14:foregroundMark x1="5322" y1="53857" x2="9082" y2="55615"/>
                        <a14:foregroundMark x1="7031" y1="34229" x2="10986" y2="34082"/>
                        <a14:foregroundMark x1="11035" y1="35107" x2="6104" y2="3364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1164" t="-39400" r="78716" b="39400"/>
          <a:stretch>
            <a:fillRect/>
          </a:stretch>
        </p:blipFill>
        <p:spPr bwMode="auto">
          <a:xfrm>
            <a:off x="5129277" y="266396"/>
            <a:ext cx="918476" cy="4091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EEEBE5C-B24B-078C-FF5F-891E8A9AFAA4}"/>
              </a:ext>
            </a:extLst>
          </p:cNvPr>
          <p:cNvSpPr txBox="1"/>
          <p:nvPr/>
        </p:nvSpPr>
        <p:spPr>
          <a:xfrm>
            <a:off x="-478685" y="127500"/>
            <a:ext cx="1314937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0B25F3"/>
                </a:solidFill>
                <a:latin typeface="Montserrat" pitchFamily="2" charset="-52"/>
              </a:rPr>
              <a:t>Прозрачность</a:t>
            </a:r>
            <a:r>
              <a:rPr lang="ru-RU" sz="3200" b="1" dirty="0">
                <a:latin typeface="Montserrat" pitchFamily="2" charset="-52"/>
              </a:rPr>
              <a:t> </a:t>
            </a:r>
            <a:endParaRPr lang="en-US" sz="3200" b="1" dirty="0">
              <a:latin typeface="Montserrat" pitchFamily="2" charset="-52"/>
            </a:endParaRPr>
          </a:p>
          <a:p>
            <a:pPr algn="ctr"/>
            <a:r>
              <a:rPr lang="ru-RU" sz="3200" b="1" dirty="0">
                <a:latin typeface="Montserrat" pitchFamily="2" charset="-52"/>
              </a:rPr>
              <a:t>вместо баннерной слепоты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716041C5-11C9-1D9F-5607-786EF6A1BA52}"/>
              </a:ext>
            </a:extLst>
          </p:cNvPr>
          <p:cNvSpPr/>
          <p:nvPr/>
        </p:nvSpPr>
        <p:spPr>
          <a:xfrm>
            <a:off x="612319" y="1347020"/>
            <a:ext cx="4617788" cy="4876799"/>
          </a:xfrm>
          <a:prstGeom prst="roundRect">
            <a:avLst>
              <a:gd name="adj" fmla="val 2036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br>
              <a:rPr lang="ru-RU" sz="1400" dirty="0">
                <a:latin typeface="Montserrat" pitchFamily="2" charset="-52"/>
              </a:rPr>
            </a:br>
            <a:endParaRPr lang="ru-RU" sz="1400" dirty="0">
              <a:latin typeface="Montserrat" pitchFamily="2" charset="-52"/>
            </a:endParaRPr>
          </a:p>
          <a:p>
            <a:endParaRPr lang="ru-RU" sz="1400" dirty="0">
              <a:latin typeface="Montserrat" pitchFamily="2" charset="-52"/>
            </a:endParaRPr>
          </a:p>
          <a:p>
            <a:endParaRPr lang="ru-RU" sz="1400" dirty="0">
              <a:latin typeface="Montserrat" pitchFamily="2" charset="-52"/>
            </a:endParaRPr>
          </a:p>
          <a:p>
            <a:r>
              <a:rPr lang="ru-RU" sz="1400" dirty="0">
                <a:latin typeface="Montserrat" pitchFamily="2" charset="-52"/>
              </a:rPr>
              <a:t>Банковские приложения превратились в </a:t>
            </a:r>
            <a:r>
              <a:rPr lang="ru-RU" sz="1400" b="1" dirty="0">
                <a:latin typeface="Montserrat" pitchFamily="2" charset="-52"/>
              </a:rPr>
              <a:t>перегруженные </a:t>
            </a:r>
            <a:r>
              <a:rPr lang="ru-RU" sz="1400" b="1" dirty="0" err="1">
                <a:latin typeface="Montserrat" pitchFamily="2" charset="-52"/>
              </a:rPr>
              <a:t>супераппы</a:t>
            </a:r>
            <a:r>
              <a:rPr lang="ru-RU" sz="1400" dirty="0">
                <a:latin typeface="Montserrat" pitchFamily="2" charset="-52"/>
              </a:rPr>
              <a:t>, где множество функций сосредоточено на одном экране. </a:t>
            </a:r>
          </a:p>
          <a:p>
            <a:endParaRPr lang="ru-RU" sz="1400" dirty="0">
              <a:latin typeface="Montserrat" pitchFamily="2" charset="-52"/>
            </a:endParaRPr>
          </a:p>
          <a:p>
            <a:r>
              <a:rPr lang="ru-RU" sz="1400" dirty="0">
                <a:latin typeface="Montserrat" pitchFamily="2" charset="-52"/>
              </a:rPr>
              <a:t>Интерфейсы стали шаблонными, а </a:t>
            </a:r>
            <a:r>
              <a:rPr lang="ru-RU" sz="1400" b="1" dirty="0">
                <a:latin typeface="Montserrat" pitchFamily="2" charset="-52"/>
              </a:rPr>
              <a:t>навигация — сложной</a:t>
            </a:r>
            <a:r>
              <a:rPr lang="ru-RU" sz="1400" dirty="0">
                <a:latin typeface="Montserrat" pitchFamily="2" charset="-52"/>
              </a:rPr>
              <a:t>. Новые пользователи сталкиваются с высоким порогом входа, а постоянные клиенты замечают только базовые операции.</a:t>
            </a:r>
          </a:p>
          <a:p>
            <a:endParaRPr lang="ru-RU" sz="1400" dirty="0">
              <a:latin typeface="Montserrat" pitchFamily="2" charset="-52"/>
            </a:endParaRPr>
          </a:p>
          <a:p>
            <a:r>
              <a:rPr lang="ru-RU" sz="1400" dirty="0">
                <a:latin typeface="Montserrat" pitchFamily="2" charset="-52"/>
              </a:rPr>
              <a:t>Возникает </a:t>
            </a:r>
            <a:r>
              <a:rPr lang="ru-RU" sz="1400" b="1" dirty="0">
                <a:latin typeface="Montserrat" pitchFamily="2" charset="-52"/>
              </a:rPr>
              <a:t>«баннерная слепота»</a:t>
            </a:r>
            <a:r>
              <a:rPr lang="ru-RU" sz="1400" dirty="0">
                <a:latin typeface="Montserrat" pitchFamily="2" charset="-52"/>
              </a:rPr>
              <a:t>: пробираясь сквозь визуальный шум к переводам и оплатам, пользователи игнорируют продвигаемые продукты, из-за чего банк теряет возможности для продаж.</a:t>
            </a:r>
          </a:p>
          <a:p>
            <a:endParaRPr lang="ru-RU" sz="1400" dirty="0">
              <a:latin typeface="Montserrat" pitchFamily="2" charset="-52"/>
            </a:endParaRPr>
          </a:p>
          <a:p>
            <a:pPr indent="457200"/>
            <a:endParaRPr lang="ru-RU" sz="1200" dirty="0">
              <a:latin typeface="Montserrat" pitchFamily="2" charset="-52"/>
            </a:endParaRP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BEB6F605-0CBB-42D1-5949-7C17FE39D5CB}"/>
              </a:ext>
            </a:extLst>
          </p:cNvPr>
          <p:cNvSpPr/>
          <p:nvPr/>
        </p:nvSpPr>
        <p:spPr>
          <a:xfrm>
            <a:off x="6339281" y="1347020"/>
            <a:ext cx="4617788" cy="4876799"/>
          </a:xfrm>
          <a:prstGeom prst="roundRect">
            <a:avLst>
              <a:gd name="adj" fmla="val 2036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br>
              <a:rPr lang="ru-RU" sz="1400" dirty="0">
                <a:latin typeface="Montserrat" pitchFamily="2" charset="-52"/>
              </a:rPr>
            </a:br>
            <a:endParaRPr lang="ru-RU" sz="1400" dirty="0">
              <a:latin typeface="Montserrat" pitchFamily="2" charset="-52"/>
            </a:endParaRPr>
          </a:p>
          <a:p>
            <a:endParaRPr lang="ru-RU" sz="1400" dirty="0">
              <a:latin typeface="Montserrat" pitchFamily="2" charset="-52"/>
            </a:endParaRPr>
          </a:p>
          <a:p>
            <a:endParaRPr lang="ru-RU" sz="1400" dirty="0">
              <a:latin typeface="Montserrat" pitchFamily="2" charset="-52"/>
            </a:endParaRPr>
          </a:p>
          <a:p>
            <a:r>
              <a:rPr lang="ru-RU" sz="1400" dirty="0">
                <a:latin typeface="Montserrat" pitchFamily="2" charset="-52"/>
              </a:rPr>
              <a:t>Мы предлагаем переосмыслить логику витрины и механики продаж. </a:t>
            </a:r>
          </a:p>
          <a:p>
            <a:endParaRPr lang="ru-RU" sz="1400" dirty="0">
              <a:latin typeface="Montserrat" pitchFamily="2" charset="-52"/>
            </a:endParaRPr>
          </a:p>
          <a:p>
            <a:r>
              <a:rPr lang="ru-RU" sz="1400" b="1" dirty="0">
                <a:latin typeface="Montserrat" pitchFamily="2" charset="-52"/>
              </a:rPr>
              <a:t>Цель</a:t>
            </a:r>
            <a:r>
              <a:rPr lang="ru-RU" sz="1400" dirty="0">
                <a:latin typeface="Montserrat" pitchFamily="2" charset="-52"/>
              </a:rPr>
              <a:t> — отказаться от каталога продуктов и превратить приложение в понятный инструмент достижения финансовых целей клиента. </a:t>
            </a:r>
          </a:p>
          <a:p>
            <a:endParaRPr lang="ru-RU" sz="1400" dirty="0">
              <a:latin typeface="Montserrat" pitchFamily="2" charset="-52"/>
            </a:endParaRPr>
          </a:p>
          <a:p>
            <a:r>
              <a:rPr lang="ru-RU" sz="1400" b="1" dirty="0">
                <a:latin typeface="Montserrat" pitchFamily="2" charset="-52"/>
              </a:rPr>
              <a:t>Решение основано </a:t>
            </a:r>
            <a:r>
              <a:rPr lang="ru-RU" sz="1400" dirty="0">
                <a:latin typeface="Montserrat" pitchFamily="2" charset="-52"/>
              </a:rPr>
              <a:t>на проверяемых гипотезах о пересборке клиентского пути в формате «единого окна». Архитектура предполагает нативную интеграцию релевантных предложений в пользовательский опыт, не превращая мобильный банк в перегруженный маркетплейс или социальную платформу.</a:t>
            </a:r>
          </a:p>
          <a:p>
            <a:endParaRPr lang="ru-RU" sz="1400" dirty="0">
              <a:latin typeface="Montserrat" pitchFamily="2" charset="-52"/>
            </a:endParaRPr>
          </a:p>
          <a:p>
            <a:pPr indent="457200"/>
            <a:endParaRPr lang="ru-RU" sz="1200" dirty="0">
              <a:latin typeface="Montserrat" pitchFamily="2" charset="-52"/>
            </a:endParaRP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F2F4372E-9458-2366-F925-87AD516ACAB6}"/>
              </a:ext>
            </a:extLst>
          </p:cNvPr>
          <p:cNvSpPr/>
          <p:nvPr/>
        </p:nvSpPr>
        <p:spPr>
          <a:xfrm>
            <a:off x="1013755" y="1676398"/>
            <a:ext cx="3814916" cy="422787"/>
          </a:xfrm>
          <a:prstGeom prst="roundRect">
            <a:avLst>
              <a:gd name="adj" fmla="val 203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2400"/>
              </a:lnSpc>
            </a:pPr>
            <a:endParaRPr lang="ru-RU" sz="2000" b="1" dirty="0">
              <a:solidFill>
                <a:srgbClr val="0B25F3"/>
              </a:solidFill>
              <a:latin typeface="Montserrat" pitchFamily="2" charset="-52"/>
            </a:endParaRPr>
          </a:p>
          <a:p>
            <a:pPr algn="ctr">
              <a:lnSpc>
                <a:spcPts val="2400"/>
              </a:lnSpc>
            </a:pPr>
            <a:r>
              <a:rPr lang="ru-RU" sz="2000" b="1" dirty="0">
                <a:solidFill>
                  <a:srgbClr val="0B25F3"/>
                </a:solidFill>
                <a:latin typeface="Montserrat" pitchFamily="2" charset="-52"/>
              </a:rPr>
              <a:t>Суть проблемы</a:t>
            </a:r>
          </a:p>
          <a:p>
            <a:pPr algn="ctr">
              <a:lnSpc>
                <a:spcPts val="2400"/>
              </a:lnSpc>
            </a:pPr>
            <a:endParaRPr lang="ru-RU" sz="2000" dirty="0">
              <a:solidFill>
                <a:srgbClr val="0B25F3"/>
              </a:solidFill>
              <a:latin typeface="Montserrat" pitchFamily="2" charset="-52"/>
            </a:endParaRP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2870F30D-3F49-82AD-5424-FF725AAA4D2F}"/>
              </a:ext>
            </a:extLst>
          </p:cNvPr>
          <p:cNvSpPr/>
          <p:nvPr/>
        </p:nvSpPr>
        <p:spPr>
          <a:xfrm>
            <a:off x="6750877" y="1676397"/>
            <a:ext cx="3814916" cy="422787"/>
          </a:xfrm>
          <a:prstGeom prst="roundRect">
            <a:avLst>
              <a:gd name="adj" fmla="val 203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2400"/>
              </a:lnSpc>
            </a:pPr>
            <a:endParaRPr lang="ru-RU" sz="2000" b="1" dirty="0">
              <a:latin typeface="Montserrat" pitchFamily="2" charset="-52"/>
            </a:endParaRPr>
          </a:p>
          <a:p>
            <a:pPr algn="ctr"/>
            <a:r>
              <a:rPr lang="ru-RU" sz="2000" b="1" dirty="0">
                <a:solidFill>
                  <a:srgbClr val="0B25F3"/>
                </a:solidFill>
                <a:latin typeface="Montserrat" pitchFamily="2" charset="-52"/>
              </a:rPr>
              <a:t>Предлагаемое</a:t>
            </a:r>
            <a:r>
              <a:rPr lang="ru-RU" sz="2000" b="1" dirty="0">
                <a:latin typeface="Montserrat" pitchFamily="2" charset="-52"/>
              </a:rPr>
              <a:t> </a:t>
            </a:r>
            <a:r>
              <a:rPr lang="ru-RU" sz="2000" b="1" dirty="0">
                <a:solidFill>
                  <a:srgbClr val="0B25F3"/>
                </a:solidFill>
                <a:latin typeface="Montserrat" pitchFamily="2" charset="-52"/>
              </a:rPr>
              <a:t>решение</a:t>
            </a:r>
          </a:p>
          <a:p>
            <a:pPr algn="ctr">
              <a:lnSpc>
                <a:spcPts val="2400"/>
              </a:lnSpc>
            </a:pPr>
            <a:endParaRPr lang="ru-RU" sz="2000" dirty="0">
              <a:latin typeface="Montserrat" pitchFamily="2" charset="-52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2E762B2-C3C8-C910-8FA1-8AE2159913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5628" y="0"/>
            <a:ext cx="2486372" cy="981212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5284A93-067A-1208-0C96-F15E2A43404E}"/>
              </a:ext>
            </a:extLst>
          </p:cNvPr>
          <p:cNvSpPr/>
          <p:nvPr/>
        </p:nvSpPr>
        <p:spPr>
          <a:xfrm>
            <a:off x="5882641" y="2333625"/>
            <a:ext cx="274962" cy="794385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979A0BE-F0E9-4988-955D-6DC7CEDD39FC}"/>
              </a:ext>
            </a:extLst>
          </p:cNvPr>
          <p:cNvSpPr/>
          <p:nvPr/>
        </p:nvSpPr>
        <p:spPr>
          <a:xfrm>
            <a:off x="5918555" y="3960854"/>
            <a:ext cx="274962" cy="365401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Google Shape;197;p33">
            <a:extLst>
              <a:ext uri="{FF2B5EF4-FFF2-40B4-BE49-F238E27FC236}">
                <a16:creationId xmlns:a16="http://schemas.microsoft.com/office/drawing/2014/main" id="{E1DA4947-9975-5CFB-24AF-576F966F39A3}"/>
              </a:ext>
            </a:extLst>
          </p:cNvPr>
          <p:cNvSpPr txBox="1"/>
          <p:nvPr/>
        </p:nvSpPr>
        <p:spPr>
          <a:xfrm>
            <a:off x="4388033" y="6427167"/>
            <a:ext cx="1492000" cy="2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/>
            <a:r>
              <a:rPr lang="ru" sz="1200" dirty="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2</a:t>
            </a:r>
            <a:endParaRPr sz="1200" dirty="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2" name="Google Shape;196;p33">
            <a:extLst>
              <a:ext uri="{FF2B5EF4-FFF2-40B4-BE49-F238E27FC236}">
                <a16:creationId xmlns:a16="http://schemas.microsoft.com/office/drawing/2014/main" id="{4A4272B4-C33F-B272-E665-4481F7C10636}"/>
              </a:ext>
            </a:extLst>
          </p:cNvPr>
          <p:cNvSpPr txBox="1"/>
          <p:nvPr/>
        </p:nvSpPr>
        <p:spPr>
          <a:xfrm>
            <a:off x="255233" y="6427167"/>
            <a:ext cx="4132800" cy="2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r>
              <a:rPr lang="ru-RU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itchFamily="2" charset="-52"/>
                <a:cs typeface="Aharoni" panose="020F0502020204030204" pitchFamily="2" charset="-79"/>
              </a:rPr>
              <a:t>Сделаем</a:t>
            </a:r>
            <a:r>
              <a:rPr lang="ru-RU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itchFamily="2" charset="-52"/>
              </a:rPr>
              <a:t> витрину </a:t>
            </a:r>
            <a: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itchFamily="2" charset="-52"/>
              </a:rPr>
              <a:t>Great Again</a:t>
            </a:r>
            <a:endParaRPr sz="1050" dirty="0">
              <a:solidFill>
                <a:schemeClr val="tx1">
                  <a:lumMod val="50000"/>
                  <a:lumOff val="50000"/>
                </a:schemeClr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  <p:extLst>
      <p:ext uri="{BB962C8B-B14F-4D97-AF65-F5344CB8AC3E}">
        <p14:creationId xmlns:p14="http://schemas.microsoft.com/office/powerpoint/2010/main" val="3222183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D1076E8-A5C2-EFD2-844F-2F308EDADA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3321" y="708187"/>
            <a:ext cx="2426052" cy="2426052"/>
          </a:xfrm>
          <a:prstGeom prst="rect">
            <a:avLst/>
          </a:prstGeom>
          <a:ln>
            <a:noFill/>
          </a:ln>
          <a:effectLst>
            <a:outerShdw blurRad="63500" sx="102000" sy="102000" algn="tl" rotWithShape="0">
              <a:srgbClr val="333333">
                <a:alpha val="40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15321A0-FB6A-8EB2-A2EA-EF02AB6C17F6}"/>
              </a:ext>
            </a:extLst>
          </p:cNvPr>
          <p:cNvSpPr txBox="1"/>
          <p:nvPr/>
        </p:nvSpPr>
        <p:spPr>
          <a:xfrm>
            <a:off x="2128069" y="134665"/>
            <a:ext cx="793586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0B25F3"/>
                </a:solidFill>
                <a:latin typeface="Montserrat" pitchFamily="2" charset="-52"/>
              </a:rPr>
              <a:t>Сложная навигация лишает клиентов нужного продукта</a:t>
            </a: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2CA088E3-A4FC-490E-1214-8A4D798ED57A}"/>
              </a:ext>
            </a:extLst>
          </p:cNvPr>
          <p:cNvSpPr/>
          <p:nvPr/>
        </p:nvSpPr>
        <p:spPr>
          <a:xfrm>
            <a:off x="208936" y="2490077"/>
            <a:ext cx="3645310" cy="3025820"/>
          </a:xfrm>
          <a:prstGeom prst="roundRect">
            <a:avLst>
              <a:gd name="adj" fmla="val 2036"/>
            </a:avLst>
          </a:prstGeom>
          <a:solidFill>
            <a:srgbClr val="FFFF99"/>
          </a:solidFill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chemeClr val="tx1"/>
                </a:solidFill>
                <a:latin typeface="Montserrat" pitchFamily="2" charset="-52"/>
              </a:rPr>
              <a:t>Пользовательская история</a:t>
            </a:r>
            <a:r>
              <a:rPr lang="ru-RU" sz="1600" dirty="0">
                <a:solidFill>
                  <a:schemeClr val="tx1"/>
                </a:solidFill>
                <a:latin typeface="Montserrat" pitchFamily="2" charset="-52"/>
              </a:rPr>
              <a:t>: </a:t>
            </a:r>
            <a:endParaRPr lang="en-US" sz="1600" dirty="0">
              <a:solidFill>
                <a:schemeClr val="tx1"/>
              </a:solidFill>
              <a:latin typeface="Montserrat" pitchFamily="2" charset="-52"/>
            </a:endParaRPr>
          </a:p>
          <a:p>
            <a:r>
              <a:rPr lang="ru-RU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itchFamily="2" charset="-52"/>
              </a:rPr>
              <a:t>«Как клиент банка, я хочу инвестировать свободные средства для защиты от инфляции и получения дохода, не тратя время на поиск нужного мне банковского продукта»</a:t>
            </a:r>
          </a:p>
          <a:p>
            <a:endParaRPr lang="ru-RU" sz="1600" dirty="0">
              <a:solidFill>
                <a:schemeClr val="tx1">
                  <a:lumMod val="85000"/>
                  <a:lumOff val="15000"/>
                </a:schemeClr>
              </a:solidFill>
              <a:latin typeface="Montserrat" pitchFamily="2" charset="-52"/>
            </a:endParaRPr>
          </a:p>
          <a:p>
            <a:r>
              <a:rPr lang="ru-RU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itchFamily="2" charset="-52"/>
              </a:rPr>
              <a:t>Елена, 34 года</a:t>
            </a:r>
          </a:p>
          <a:p>
            <a:r>
              <a:rPr lang="ru-RU" sz="16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itchFamily="2" charset="-52"/>
              </a:rPr>
              <a:t>Руководитель отдела продаж</a:t>
            </a:r>
          </a:p>
          <a:p>
            <a:endParaRPr lang="ru-RU" sz="1600" dirty="0">
              <a:solidFill>
                <a:schemeClr val="bg1"/>
              </a:solidFill>
              <a:latin typeface="Montserrat" pitchFamily="2" charset="-5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Прямоугольник: скругленные углы 2">
                <a:extLst>
                  <a:ext uri="{FF2B5EF4-FFF2-40B4-BE49-F238E27FC236}">
                    <a16:creationId xmlns:a16="http://schemas.microsoft.com/office/drawing/2014/main" id="{52F712F9-5D5D-2357-B07E-E8116F2C3A6F}"/>
                  </a:ext>
                </a:extLst>
              </p:cNvPr>
              <p:cNvSpPr/>
              <p:nvPr/>
            </p:nvSpPr>
            <p:spPr>
              <a:xfrm>
                <a:off x="4506503" y="1481973"/>
                <a:ext cx="7392678" cy="4631133"/>
              </a:xfrm>
              <a:prstGeom prst="roundRect">
                <a:avLst>
                  <a:gd name="adj" fmla="val 2036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63500" sx="102000" sy="102000" algn="ctr" rotWithShape="0">
                  <a:srgbClr val="000000">
                    <a:alpha val="40000"/>
                  </a:srgbClr>
                </a:outerShdw>
              </a:effectLst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just"/>
                <a:r>
                  <a:rPr lang="ru-RU" sz="1200" b="1" dirty="0">
                    <a:latin typeface="Montserrat" pitchFamily="2" charset="-52"/>
                  </a:rPr>
                  <a:t>Анализ текущего пути пользователя </a:t>
                </a:r>
              </a:p>
              <a:p>
                <a:pPr algn="just"/>
                <a:endParaRPr lang="ru-RU" sz="1200" dirty="0">
                  <a:latin typeface="Montserrat" pitchFamily="2" charset="-52"/>
                </a:endParaRPr>
              </a:p>
              <a:p>
                <a:pPr algn="just"/>
                <a:r>
                  <a:rPr lang="ru-RU" sz="1200" dirty="0">
                    <a:latin typeface="Montserrat" pitchFamily="2" charset="-52"/>
                  </a:rPr>
                  <a:t>Текущая архитектура приложения ОТП Банка заставляет пользователя пробираться сквозь хаос из десятков иконок и разделов. Анализ пути</a:t>
                </a:r>
                <a:r>
                  <a:rPr lang="en-US" sz="1200" dirty="0">
                    <a:latin typeface="Montserrat" pitchFamily="2" charset="-5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ru-RU" sz="1200" dirty="0">
                            <a:latin typeface="Montserrat" pitchFamily="2" charset="-52"/>
                          </a:rPr>
                          <m:t>«</m:t>
                        </m:r>
                        <m:r>
                          <m:rPr>
                            <m:nor/>
                          </m:rPr>
                          <a:rPr lang="ru-RU" sz="1200" dirty="0">
                            <a:latin typeface="Montserrat" pitchFamily="2" charset="-52"/>
                          </a:rPr>
                          <m:t>A</m:t>
                        </m:r>
                        <m:r>
                          <m:rPr>
                            <m:nor/>
                          </m:rPr>
                          <a:rPr lang="en-US" sz="1200" dirty="0">
                            <a:latin typeface="Montserrat" pitchFamily="2" charset="-52"/>
                          </a:rPr>
                          <m:t>S</m:t>
                        </m:r>
                        <m:r>
                          <m:rPr>
                            <m:nor/>
                          </m:rPr>
                          <a:rPr lang="ru-RU" sz="1200" dirty="0">
                            <a:latin typeface="Montserrat" pitchFamily="2" charset="-52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ru-RU" sz="1200" dirty="0">
                            <a:latin typeface="Montserrat" pitchFamily="2" charset="-52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sz="1200" dirty="0">
                            <a:latin typeface="Montserrat" pitchFamily="2" charset="-52"/>
                          </a:rPr>
                          <m:t>S</m:t>
                        </m:r>
                        <m:r>
                          <m:rPr>
                            <m:nor/>
                          </m:rPr>
                          <a:rPr lang="ru-RU" sz="1200" dirty="0">
                            <a:latin typeface="Montserrat" pitchFamily="2" charset="-52"/>
                          </a:rPr>
                          <m:t>»</m:t>
                        </m:r>
                      </m:e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ru-RU" sz="1200" dirty="0">
                    <a:latin typeface="Montserrat" pitchFamily="2" charset="-52"/>
                  </a:rPr>
                  <a:t> показывает, что для выполнения целевых сценариев — например, поиска и выбора инвестиционного продукта — клиенту приходится совершать избыточное количество переходов и скроллить нерелевантные кредитные предложения. Когнитивная нагрузка возрастает: клиент сфокусирован исключительно на поиске нужной функции и машинально пролистывает любые кросс-сейл инициативы банка. А столкновение со сложной юридической терминологией на финальных этапах приводит к отказу от продукта</a:t>
                </a:r>
                <a:r>
                  <a:rPr lang="en-US" sz="1200" dirty="0">
                    <a:latin typeface="Montserrat" pitchFamily="2" charset="-52"/>
                  </a:rPr>
                  <a:t>.</a:t>
                </a:r>
                <a:endParaRPr lang="ru-RU" sz="1200" dirty="0">
                  <a:latin typeface="Montserrat" pitchFamily="2" charset="-52"/>
                </a:endParaRPr>
              </a:p>
              <a:p>
                <a:pPr algn="just"/>
                <a:endParaRPr lang="ru-RU" sz="1200" dirty="0">
                  <a:latin typeface="Montserrat" pitchFamily="2" charset="-52"/>
                </a:endParaRPr>
              </a:p>
              <a:p>
                <a:pPr algn="just"/>
                <a:r>
                  <a:rPr lang="ru-RU" sz="1200" b="1" dirty="0">
                    <a:latin typeface="Montserrat" pitchFamily="2" charset="-52"/>
                  </a:rPr>
                  <a:t>Подтверждение барьеров реальными пользователями</a:t>
                </a:r>
              </a:p>
              <a:p>
                <a:pPr algn="just"/>
                <a:endParaRPr lang="ru-RU" sz="1200" dirty="0">
                  <a:latin typeface="Montserrat" pitchFamily="2" charset="-52"/>
                </a:endParaRPr>
              </a:p>
              <a:p>
                <a:pPr algn="just"/>
                <a:r>
                  <a:rPr lang="ru-RU" sz="1200" dirty="0">
                    <a:latin typeface="Montserrat" pitchFamily="2" charset="-52"/>
                  </a:rPr>
                  <a:t>На основе выявленной проблематики мы предположили, что избыток интерфейсных элементов формирует у клиентов «баннерную слепоту», а скрытые условия ломают конверсию. Чтобы детально разобрать, как именно эти барьеры отражаются на клиентском опыте, мы составили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ru-RU" sz="1200" dirty="0">
                            <a:latin typeface="Montserrat" pitchFamily="2" charset="-52"/>
                          </a:rPr>
                          <m:t>«</m:t>
                        </m:r>
                        <m:r>
                          <m:rPr>
                            <m:nor/>
                          </m:rPr>
                          <a:rPr lang="en-US" sz="1200" b="0" i="0" dirty="0" smtClean="0">
                            <a:latin typeface="Montserrat" pitchFamily="2" charset="-52"/>
                          </a:rPr>
                          <m:t>CJM</m:t>
                        </m:r>
                        <m:r>
                          <m:rPr>
                            <m:nor/>
                          </m:rPr>
                          <a:rPr lang="ru-RU" sz="1200" dirty="0">
                            <a:latin typeface="Montserrat" pitchFamily="2" charset="-52"/>
                          </a:rPr>
                          <m:t>»</m:t>
                        </m:r>
                      </m:e>
                      <m:sup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200" dirty="0">
                    <a:latin typeface="Montserrat" pitchFamily="2" charset="-52"/>
                  </a:rPr>
                  <a:t>(Customer Journey Map)</a:t>
                </a:r>
                <a:r>
                  <a:rPr lang="ru-RU" sz="1200" dirty="0">
                    <a:latin typeface="Montserrat" pitchFamily="2" charset="-52"/>
                  </a:rPr>
                  <a:t>. Она наглядно демонстрирует резкое падение эмоционального фона: от спокойного старта до сильного раздражения из-за визуального шума и когнитивного перегруза аббревиатурами на этапе выбора. В результате интерфейс превращается в лабиринт, где клиент теряет фокус и мотивацию завершить целевой сценарий. </a:t>
                </a:r>
                <a:endParaRPr lang="ru-RU" sz="1200" i="1" dirty="0">
                  <a:latin typeface="Cambria Math" panose="02040503050406030204" pitchFamily="18" charset="0"/>
                </a:endParaRPr>
              </a:p>
              <a:p>
                <a:pPr algn="just"/>
                <a:endParaRPr lang="ru-RU" sz="1000" i="1" dirty="0">
                  <a:latin typeface="Cambria Math" panose="02040503050406030204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sSup>
                      <m:sSupPr>
                        <m:ctrlPr>
                          <a:rPr lang="en-US" sz="1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ru-RU" sz="1000" dirty="0">
                            <a:latin typeface="Montserrat" pitchFamily="2" charset="-52"/>
                          </a:rPr>
                          <m:t>«</m:t>
                        </m:r>
                        <m:r>
                          <m:rPr>
                            <m:nor/>
                          </m:rPr>
                          <a:rPr lang="ru-RU" sz="1000" dirty="0">
                            <a:latin typeface="Montserrat" pitchFamily="2" charset="-52"/>
                          </a:rPr>
                          <m:t>A</m:t>
                        </m:r>
                        <m:r>
                          <m:rPr>
                            <m:nor/>
                          </m:rPr>
                          <a:rPr lang="en-US" sz="1000" dirty="0">
                            <a:latin typeface="Montserrat" pitchFamily="2" charset="-52"/>
                          </a:rPr>
                          <m:t>S</m:t>
                        </m:r>
                        <m:r>
                          <m:rPr>
                            <m:nor/>
                          </m:rPr>
                          <a:rPr lang="ru-RU" sz="1000" dirty="0">
                            <a:latin typeface="Montserrat" pitchFamily="2" charset="-52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ru-RU" sz="1000" dirty="0">
                            <a:latin typeface="Montserrat" pitchFamily="2" charset="-52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sz="1000" dirty="0">
                            <a:latin typeface="Montserrat" pitchFamily="2" charset="-52"/>
                          </a:rPr>
                          <m:t>S</m:t>
                        </m:r>
                        <m:r>
                          <m:rPr>
                            <m:nor/>
                          </m:rPr>
                          <a:rPr lang="ru-RU" sz="1000" dirty="0">
                            <a:latin typeface="Montserrat" pitchFamily="2" charset="-52"/>
                          </a:rPr>
                          <m:t>»</m:t>
                        </m:r>
                      </m:e>
                      <m:sup>
                        <m:r>
                          <a:rPr lang="en-US" sz="10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ru-RU" sz="1000" dirty="0">
                    <a:latin typeface="Montserrat" pitchFamily="2" charset="-52"/>
                  </a:rPr>
                  <a:t> см. Приложение 1: Модель процесса A</a:t>
                </a:r>
                <a:r>
                  <a:rPr lang="en-US" sz="1000" dirty="0">
                    <a:latin typeface="Montserrat" pitchFamily="2" charset="-52"/>
                  </a:rPr>
                  <a:t>S</a:t>
                </a:r>
                <a:r>
                  <a:rPr lang="ru-RU" sz="1000" dirty="0">
                    <a:latin typeface="Montserrat" pitchFamily="2" charset="-52"/>
                  </a:rPr>
                  <a:t>-I</a:t>
                </a:r>
                <a:r>
                  <a:rPr lang="en-US" sz="1000" dirty="0">
                    <a:latin typeface="Montserrat" pitchFamily="2" charset="-52"/>
                  </a:rPr>
                  <a:t>S</a:t>
                </a:r>
                <a:r>
                  <a:rPr lang="ru-RU" sz="1000" dirty="0">
                    <a:latin typeface="Montserrat" pitchFamily="2" charset="-52"/>
                  </a:rPr>
                  <a:t> в нотации BPM</a:t>
                </a:r>
                <a:r>
                  <a:rPr lang="en-US" sz="1000" dirty="0">
                    <a:latin typeface="Montserrat" pitchFamily="2" charset="-52"/>
                  </a:rPr>
                  <a:t>N</a:t>
                </a:r>
                <a:r>
                  <a:rPr lang="ru-RU" sz="1000" dirty="0">
                    <a:latin typeface="Montserrat" pitchFamily="2" charset="-52"/>
                  </a:rPr>
                  <a:t>.</a:t>
                </a:r>
              </a:p>
              <a:p>
                <a:pPr algn="just"/>
                <a14:m>
                  <m:oMath xmlns:m="http://schemas.openxmlformats.org/officeDocument/2006/math">
                    <m:sSup>
                      <m:sSupPr>
                        <m:ctrlPr>
                          <a:rPr lang="en-US" sz="1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ru-RU" sz="1000" dirty="0">
                            <a:latin typeface="Montserrat" pitchFamily="2" charset="-52"/>
                          </a:rPr>
                          <m:t>«</m:t>
                        </m:r>
                        <m:r>
                          <m:rPr>
                            <m:nor/>
                          </m:rPr>
                          <a:rPr lang="en-US" sz="1000" dirty="0">
                            <a:latin typeface="Montserrat" pitchFamily="2" charset="-52"/>
                          </a:rPr>
                          <m:t>CJM</m:t>
                        </m:r>
                        <m:r>
                          <m:rPr>
                            <m:nor/>
                          </m:rPr>
                          <a:rPr lang="ru-RU" sz="1000" dirty="0">
                            <a:latin typeface="Montserrat" pitchFamily="2" charset="-52"/>
                          </a:rPr>
                          <m:t>»</m:t>
                        </m:r>
                      </m:e>
                      <m:sup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0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000" dirty="0">
                    <a:latin typeface="Montserrat" pitchFamily="2" charset="-52"/>
                  </a:rPr>
                  <a:t>  </a:t>
                </a:r>
                <a:r>
                  <a:rPr lang="ru-RU" sz="1000" dirty="0">
                    <a:latin typeface="Montserrat" pitchFamily="2" charset="-52"/>
                  </a:rPr>
                  <a:t>см. Приложение 2: Карта пути клиента</a:t>
                </a:r>
                <a:endParaRPr lang="ru-RU" sz="1200" dirty="0">
                  <a:latin typeface="Montserrat" pitchFamily="2" charset="-52"/>
                </a:endParaRPr>
              </a:p>
              <a:p>
                <a:pPr indent="457200" algn="just"/>
                <a:endParaRPr lang="ru-RU" sz="1200" dirty="0">
                  <a:latin typeface="Montserrat" pitchFamily="2" charset="-52"/>
                </a:endParaRPr>
              </a:p>
            </p:txBody>
          </p:sp>
        </mc:Choice>
        <mc:Fallback xmlns="">
          <p:sp>
            <p:nvSpPr>
              <p:cNvPr id="3" name="Прямоугольник: скругленные углы 2">
                <a:extLst>
                  <a:ext uri="{FF2B5EF4-FFF2-40B4-BE49-F238E27FC236}">
                    <a16:creationId xmlns:a16="http://schemas.microsoft.com/office/drawing/2014/main" id="{52F712F9-5D5D-2357-B07E-E8116F2C3A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6503" y="1481973"/>
                <a:ext cx="7392678" cy="4631133"/>
              </a:xfrm>
              <a:prstGeom prst="roundRect">
                <a:avLst>
                  <a:gd name="adj" fmla="val 2036"/>
                </a:avLst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  <a:effectLst>
                <a:outerShdw blurRad="63500" sx="102000" sy="102000" algn="ctr" rotWithShape="0">
                  <a:srgbClr val="000000">
                    <a:alpha val="40000"/>
                  </a:srgbClr>
                </a:outerShdw>
              </a:effectLst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87BFDE1-398B-3902-0AEC-8E92095D2B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5628" y="0"/>
            <a:ext cx="2486372" cy="981212"/>
          </a:xfrm>
          <a:prstGeom prst="rect">
            <a:avLst/>
          </a:prstGeom>
        </p:spPr>
      </p:pic>
      <p:sp>
        <p:nvSpPr>
          <p:cNvPr id="8" name="Google Shape;197;p33">
            <a:extLst>
              <a:ext uri="{FF2B5EF4-FFF2-40B4-BE49-F238E27FC236}">
                <a16:creationId xmlns:a16="http://schemas.microsoft.com/office/drawing/2014/main" id="{C126D245-918D-5757-54B1-E4FE3624C301}"/>
              </a:ext>
            </a:extLst>
          </p:cNvPr>
          <p:cNvSpPr txBox="1"/>
          <p:nvPr/>
        </p:nvSpPr>
        <p:spPr>
          <a:xfrm>
            <a:off x="4388033" y="6427167"/>
            <a:ext cx="1492000" cy="2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/>
            <a:r>
              <a:rPr lang="ru" sz="1200" dirty="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3</a:t>
            </a:r>
            <a:endParaRPr sz="1200" dirty="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9" name="Google Shape;196;p33">
            <a:extLst>
              <a:ext uri="{FF2B5EF4-FFF2-40B4-BE49-F238E27FC236}">
                <a16:creationId xmlns:a16="http://schemas.microsoft.com/office/drawing/2014/main" id="{730A3775-FB85-07F3-B2A5-EBDB999749EB}"/>
              </a:ext>
            </a:extLst>
          </p:cNvPr>
          <p:cNvSpPr txBox="1"/>
          <p:nvPr/>
        </p:nvSpPr>
        <p:spPr>
          <a:xfrm>
            <a:off x="255233" y="6427167"/>
            <a:ext cx="4132800" cy="2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r>
              <a:rPr lang="ru-RU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itchFamily="2" charset="-52"/>
                <a:cs typeface="Aharoni" panose="020F0502020204030204" pitchFamily="2" charset="-79"/>
              </a:rPr>
              <a:t>Сделаем</a:t>
            </a:r>
            <a:r>
              <a:rPr lang="ru-RU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itchFamily="2" charset="-52"/>
              </a:rPr>
              <a:t> витрину </a:t>
            </a:r>
            <a: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itchFamily="2" charset="-52"/>
              </a:rPr>
              <a:t>Great Again</a:t>
            </a:r>
            <a:endParaRPr sz="1050" dirty="0">
              <a:solidFill>
                <a:schemeClr val="tx1">
                  <a:lumMod val="50000"/>
                  <a:lumOff val="50000"/>
                </a:schemeClr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  <p:extLst>
      <p:ext uri="{BB962C8B-B14F-4D97-AF65-F5344CB8AC3E}">
        <p14:creationId xmlns:p14="http://schemas.microsoft.com/office/powerpoint/2010/main" val="3966113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6A75E9F-063E-B9D3-1D18-17A7D65E5C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5628" y="-91214"/>
            <a:ext cx="2486372" cy="981212"/>
          </a:xfrm>
          <a:prstGeom prst="rect">
            <a:avLst/>
          </a:prstGeom>
        </p:spPr>
      </p:pic>
      <p:sp>
        <p:nvSpPr>
          <p:cNvPr id="195" name="Google Shape;195;p3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7400"/>
            <a:ext cx="6096000" cy="68654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lang="en-US" sz="2400" dirty="0">
              <a:latin typeface="Montserrat" pitchFamily="2" charset="-52"/>
            </a:endParaRPr>
          </a:p>
        </p:txBody>
      </p:sp>
      <p:sp>
        <p:nvSpPr>
          <p:cNvPr id="196" name="Google Shape;196;p33"/>
          <p:cNvSpPr txBox="1"/>
          <p:nvPr/>
        </p:nvSpPr>
        <p:spPr>
          <a:xfrm>
            <a:off x="255233" y="6427167"/>
            <a:ext cx="4132800" cy="2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r>
              <a:rPr lang="ru-RU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itchFamily="2" charset="-52"/>
                <a:cs typeface="Aharoni" panose="020F0502020204030204" pitchFamily="2" charset="-79"/>
              </a:rPr>
              <a:t>Сделаем</a:t>
            </a:r>
            <a:r>
              <a:rPr lang="ru-RU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itchFamily="2" charset="-52"/>
              </a:rPr>
              <a:t> витрину </a:t>
            </a:r>
            <a: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itchFamily="2" charset="-52"/>
              </a:rPr>
              <a:t>Great Again</a:t>
            </a:r>
            <a:endParaRPr sz="1050" dirty="0">
              <a:solidFill>
                <a:schemeClr val="tx1">
                  <a:lumMod val="50000"/>
                  <a:lumOff val="50000"/>
                </a:schemeClr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97" name="Google Shape;197;p33"/>
          <p:cNvSpPr txBox="1"/>
          <p:nvPr/>
        </p:nvSpPr>
        <p:spPr>
          <a:xfrm>
            <a:off x="4388033" y="6427167"/>
            <a:ext cx="1492000" cy="2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/>
            <a:r>
              <a:rPr lang="ru" sz="1200" dirty="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4</a:t>
            </a:r>
            <a:endParaRPr sz="1200" dirty="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98" name="Google Shape;198;p33"/>
          <p:cNvSpPr txBox="1"/>
          <p:nvPr/>
        </p:nvSpPr>
        <p:spPr>
          <a:xfrm>
            <a:off x="6336000" y="743366"/>
            <a:ext cx="5452534" cy="203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ru-RU" sz="1600" b="1" dirty="0">
                <a:latin typeface="Montserrat" pitchFamily="2" charset="-52"/>
              </a:rPr>
              <a:t>Фокус исследования и формирование гипотез</a:t>
            </a:r>
            <a:endParaRPr lang="ru-RU" sz="1100" dirty="0">
              <a:latin typeface="Montserrat" pitchFamily="2" charset="-52"/>
            </a:endParaRPr>
          </a:p>
          <a:p>
            <a:endParaRPr lang="ru-RU" sz="1100" dirty="0">
              <a:latin typeface="Montserrat" pitchFamily="2" charset="-52"/>
            </a:endParaRPr>
          </a:p>
          <a:p>
            <a:r>
              <a:rPr lang="ru-RU" sz="1100" dirty="0">
                <a:latin typeface="Montserrat" pitchFamily="2" charset="-52"/>
              </a:rPr>
              <a:t>Проблема перегруженности банковских </a:t>
            </a:r>
            <a:r>
              <a:rPr lang="ru-RU" sz="1100" dirty="0" err="1">
                <a:latin typeface="Montserrat" pitchFamily="2" charset="-52"/>
              </a:rPr>
              <a:t>супераппов</a:t>
            </a:r>
            <a:r>
              <a:rPr lang="ru-RU" sz="1100" dirty="0">
                <a:latin typeface="Montserrat" pitchFamily="2" charset="-52"/>
              </a:rPr>
              <a:t> уже обозначена в бизнес-задаче, поэтому исследование было направлено на поиск конкретных точек разрыва пользовательского пути. Наша задача — понять, как именно многофункциональность приложения влияет на поведение пользователей и мешает выполнению целевых действий.</a:t>
            </a:r>
          </a:p>
        </p:txBody>
      </p:sp>
      <p:sp>
        <p:nvSpPr>
          <p:cNvPr id="200" name="Google Shape;200;p33"/>
          <p:cNvSpPr txBox="1"/>
          <p:nvPr/>
        </p:nvSpPr>
        <p:spPr>
          <a:xfrm>
            <a:off x="255233" y="1967018"/>
            <a:ext cx="4946032" cy="4107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ru-RU" sz="2000" b="1" dirty="0">
                <a:latin typeface="Montserrat" pitchFamily="2" charset="-52"/>
              </a:rPr>
              <a:t>Ключевой инсайт исследования</a:t>
            </a:r>
            <a:r>
              <a:rPr lang="ru-RU" sz="2000" dirty="0">
                <a:latin typeface="Montserrat" pitchFamily="2" charset="-52"/>
              </a:rPr>
              <a:t>:</a:t>
            </a:r>
            <a:endParaRPr lang="en-US" sz="2000" dirty="0">
              <a:latin typeface="Montserrat" pitchFamily="2" charset="-52"/>
            </a:endParaRPr>
          </a:p>
          <a:p>
            <a:endParaRPr lang="ru-RU" sz="2000" dirty="0">
              <a:latin typeface="Montserrat" pitchFamily="2" charset="-52"/>
            </a:endParaRPr>
          </a:p>
          <a:p>
            <a:r>
              <a:rPr lang="ru-RU" sz="2000" dirty="0">
                <a:latin typeface="Montserrat" pitchFamily="2" charset="-52"/>
              </a:rPr>
              <a:t>«пользователям нужен не каталог финансовых продуктов, а понятные сценарии решения жизненных задач — например, удобные накопления или простые инвестиционные решения для начинающих.</a:t>
            </a:r>
          </a:p>
          <a:p>
            <a:r>
              <a:rPr lang="ru-RU" sz="2000" dirty="0">
                <a:latin typeface="Montserrat" pitchFamily="2" charset="-52"/>
              </a:rPr>
              <a:t>Полученные инсайты* легли в основу дальнейших продуктовых решений по редизайну витрины»</a:t>
            </a:r>
          </a:p>
          <a:p>
            <a:endParaRPr lang="ru-RU" sz="2000" dirty="0">
              <a:latin typeface="Montserrat" pitchFamily="2" charset="-52"/>
            </a:endParaRPr>
          </a:p>
          <a:p>
            <a:r>
              <a:rPr lang="ru-RU" sz="1000" dirty="0">
                <a:latin typeface="Montserrat" pitchFamily="2" charset="-52"/>
              </a:rPr>
              <a:t>*см. Приложение 3: Отчет по глубинным интервью</a:t>
            </a:r>
            <a:endParaRPr lang="ru-RU" sz="2000" dirty="0">
              <a:latin typeface="Montserrat" pitchFamily="2" charset="-52"/>
            </a:endParaRPr>
          </a:p>
        </p:txBody>
      </p:sp>
      <p:sp>
        <p:nvSpPr>
          <p:cNvPr id="202" name="Google Shape;202;p33"/>
          <p:cNvSpPr txBox="1"/>
          <p:nvPr/>
        </p:nvSpPr>
        <p:spPr>
          <a:xfrm>
            <a:off x="6351233" y="3904440"/>
            <a:ext cx="5452535" cy="2793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indent="-342900">
              <a:buFont typeface="+mj-lt"/>
              <a:buAutoNum type="arabicPeriod"/>
            </a:pPr>
            <a:endParaRPr lang="ru-RU" sz="1600" dirty="0">
              <a:latin typeface="Montserrat" pitchFamily="2" charset="-52"/>
            </a:endParaRPr>
          </a:p>
          <a:p>
            <a:r>
              <a:rPr lang="ru-RU" sz="1600" b="1" dirty="0">
                <a:latin typeface="Montserrat" pitchFamily="2" charset="-52"/>
              </a:rPr>
              <a:t>Валидация барьеров и реальные потребности клиентов</a:t>
            </a:r>
            <a:endParaRPr lang="ru-RU" sz="1600" dirty="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endParaRPr lang="ru-RU" sz="1100" dirty="0">
              <a:latin typeface="Montserrat" pitchFamily="2" charset="-52"/>
            </a:endParaRPr>
          </a:p>
          <a:p>
            <a:r>
              <a:rPr lang="ru-RU" sz="1100" dirty="0">
                <a:latin typeface="Montserrat" pitchFamily="2" charset="-52"/>
              </a:rPr>
              <a:t>Серия проблемных глубинных интервью подтвердила деструктивное влияние текущей витрины. Пользователи отмечают, что плавающие кнопки и промо-баннеры физически перекрывают элементы навигации и базовые функции приложения (СБП, оплата по QR). Это вызывает раздражение, поскольку приложение используется прежде всего для быстрых повседневных операций.</a:t>
            </a:r>
          </a:p>
          <a:p>
            <a:r>
              <a:rPr lang="ru-RU" sz="1100" dirty="0">
                <a:latin typeface="Montserrat" pitchFamily="2" charset="-52"/>
              </a:rPr>
              <a:t>Гипотеза о когнитивной перегрузке также получила подтверждение. Пользователи, заинтересованные в накоплениях и инвестициях, сталкиваются с приоритетным продвижением кредитных продуктов и сложными аббревиатурами (ПИФ, ИСЖ), что усложняет понимание предложений банка и снижает готовность к взаимодействию.</a:t>
            </a:r>
          </a:p>
        </p:txBody>
      </p:sp>
      <p:sp>
        <p:nvSpPr>
          <p:cNvPr id="204" name="Google Shape;204;p33"/>
          <p:cNvSpPr txBox="1"/>
          <p:nvPr/>
        </p:nvSpPr>
        <p:spPr>
          <a:xfrm>
            <a:off x="240000" y="336000"/>
            <a:ext cx="4685962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033" bIns="0" anchor="t" anchorCtr="0">
            <a:spAutoFit/>
          </a:bodyPr>
          <a:lstStyle/>
          <a:p>
            <a:r>
              <a:rPr lang="ru-RU" sz="3600" b="1" dirty="0">
                <a:solidFill>
                  <a:srgbClr val="0B25F3"/>
                </a:solidFill>
                <a:latin typeface="Montserrat" pitchFamily="2" charset="-52"/>
              </a:rPr>
              <a:t>От аналитики к инсайтам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C3D9BB-CEFC-71FD-764A-7E5549165836}"/>
              </a:ext>
            </a:extLst>
          </p:cNvPr>
          <p:cNvSpPr txBox="1"/>
          <p:nvPr/>
        </p:nvSpPr>
        <p:spPr>
          <a:xfrm>
            <a:off x="6252486" y="2110511"/>
            <a:ext cx="5452535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ru-RU" sz="1100" dirty="0">
              <a:latin typeface="Montserrat" pitchFamily="2" charset="-52"/>
            </a:endParaRPr>
          </a:p>
          <a:p>
            <a:r>
              <a:rPr lang="ru-RU" sz="1600" b="1" dirty="0">
                <a:latin typeface="Montserrat" pitchFamily="2" charset="-52"/>
              </a:rPr>
              <a:t>Мы сформулировали </a:t>
            </a:r>
            <a:r>
              <a:rPr lang="ru-RU" sz="1600" b="1">
                <a:latin typeface="Montserrat" pitchFamily="2" charset="-52"/>
              </a:rPr>
              <a:t>две гипотезы</a:t>
            </a:r>
            <a:r>
              <a:rPr lang="ru-RU" sz="1600" dirty="0">
                <a:latin typeface="Montserrat" pitchFamily="2" charset="-52"/>
              </a:rPr>
              <a:t>:</a:t>
            </a:r>
            <a:endParaRPr lang="en-US" sz="1600" dirty="0">
              <a:latin typeface="Montserrat" pitchFamily="2" charset="-52"/>
            </a:endParaRPr>
          </a:p>
          <a:p>
            <a:endParaRPr lang="ru-RU" sz="1100" dirty="0">
              <a:latin typeface="Montserrat" pitchFamily="2" charset="-5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B7DE50-EE06-EA3A-C54F-F653728D0059}"/>
              </a:ext>
            </a:extLst>
          </p:cNvPr>
          <p:cNvSpPr txBox="1"/>
          <p:nvPr/>
        </p:nvSpPr>
        <p:spPr>
          <a:xfrm>
            <a:off x="6252486" y="2576057"/>
            <a:ext cx="7429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>
                <a:solidFill>
                  <a:srgbClr val="0B25F3"/>
                </a:solidFill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D8801C-8991-C015-E610-DE50978142A5}"/>
              </a:ext>
            </a:extLst>
          </p:cNvPr>
          <p:cNvSpPr txBox="1"/>
          <p:nvPr/>
        </p:nvSpPr>
        <p:spPr>
          <a:xfrm>
            <a:off x="6293387" y="3270829"/>
            <a:ext cx="8185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solidFill>
                  <a:srgbClr val="0B25F3"/>
                </a:solidFill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08A4B5-0CFB-267F-7A43-1A1B862652F9}"/>
              </a:ext>
            </a:extLst>
          </p:cNvPr>
          <p:cNvSpPr txBox="1"/>
          <p:nvPr/>
        </p:nvSpPr>
        <p:spPr>
          <a:xfrm>
            <a:off x="6669698" y="2604262"/>
            <a:ext cx="5021931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latin typeface="Montserrat" pitchFamily="2" charset="-52"/>
              </a:rPr>
              <a:t>Агрессивные маркетинговые баннеры и плавающие элементы интерфейса мешают выполнению быстрых рутинных операций и формируют эффект баннерной слепоты.</a:t>
            </a:r>
          </a:p>
          <a:p>
            <a:endParaRPr lang="en-US" sz="1100" dirty="0">
              <a:latin typeface="Montserrat" pitchFamily="2" charset="-52"/>
            </a:endParaRPr>
          </a:p>
          <a:p>
            <a:r>
              <a:rPr lang="ru-RU" sz="1100" dirty="0" err="1">
                <a:latin typeface="Montserrat" pitchFamily="2" charset="-52"/>
              </a:rPr>
              <a:t>Неперсонализированный</a:t>
            </a:r>
            <a:r>
              <a:rPr lang="ru-RU" sz="1100" dirty="0">
                <a:latin typeface="Montserrat" pitchFamily="2" charset="-52"/>
              </a:rPr>
              <a:t> каталог продуктов с приоритетом кредитных предложений и сложным финансовым сленгом создает когнитивный барьер для пользователей, заинтересованных в накоплениях и инвестициях.</a:t>
            </a:r>
          </a:p>
          <a:p>
            <a:endParaRPr lang="ru-RU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74418B-3ADB-897B-16AD-748B2EBA5388}"/>
              </a:ext>
            </a:extLst>
          </p:cNvPr>
          <p:cNvSpPr txBox="1"/>
          <p:nvPr/>
        </p:nvSpPr>
        <p:spPr>
          <a:xfrm>
            <a:off x="219919" y="1097986"/>
            <a:ext cx="1527732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200" dirty="0">
                <a:solidFill>
                  <a:srgbClr val="0B25F3"/>
                </a:solidFill>
                <a:latin typeface="Montserrat Black" pitchFamily="2" charset="-52"/>
              </a:rPr>
              <a:t>1</a:t>
            </a:r>
            <a:endParaRPr lang="ru-RU" sz="17200" dirty="0">
              <a:solidFill>
                <a:srgbClr val="0B25F3"/>
              </a:solidFill>
              <a:latin typeface="Montserrat Black" pitchFamily="2" charset="-5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19FD18-5855-9519-1A5C-AE65D88E0504}"/>
              </a:ext>
            </a:extLst>
          </p:cNvPr>
          <p:cNvSpPr txBox="1"/>
          <p:nvPr/>
        </p:nvSpPr>
        <p:spPr>
          <a:xfrm>
            <a:off x="403746" y="396661"/>
            <a:ext cx="1111966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latin typeface="Montserrat" pitchFamily="2" charset="-52"/>
              </a:rPr>
              <a:t>Проектирование нового пути: </a:t>
            </a:r>
            <a:endParaRPr lang="en-US" sz="2800" b="1" dirty="0">
              <a:latin typeface="Montserrat" pitchFamily="2" charset="-52"/>
            </a:endParaRPr>
          </a:p>
          <a:p>
            <a:pPr algn="ctr"/>
            <a:r>
              <a:rPr lang="ru-RU" sz="2800" b="1" dirty="0">
                <a:solidFill>
                  <a:srgbClr val="0B25F3"/>
                </a:solidFill>
                <a:latin typeface="Montserrat" pitchFamily="2" charset="-52"/>
              </a:rPr>
              <a:t>от продуктов к жизненным сценариям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3A01EC-3D66-E82B-2FAA-040123A1ECF5}"/>
              </a:ext>
            </a:extLst>
          </p:cNvPr>
          <p:cNvSpPr txBox="1"/>
          <p:nvPr/>
        </p:nvSpPr>
        <p:spPr>
          <a:xfrm>
            <a:off x="1208983" y="1905513"/>
            <a:ext cx="440804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latin typeface="Montserrat" pitchFamily="2" charset="-52"/>
              </a:rPr>
              <a:t>Опираясь на инсайты, полученные в ходе </a:t>
            </a:r>
            <a:r>
              <a:rPr lang="ru-RU" sz="1400" b="1" dirty="0">
                <a:latin typeface="Montserrat" pitchFamily="2" charset="-52"/>
              </a:rPr>
              <a:t>глубинных интервью</a:t>
            </a:r>
            <a:r>
              <a:rPr lang="ru-RU" sz="1400" dirty="0">
                <a:latin typeface="Montserrat" pitchFamily="2" charset="-52"/>
              </a:rPr>
              <a:t>, мы полностью пересмотрели архитектуру приложения. Инструментом для системной трансформации интерфейса стала карта пользовательских историй (User Story </a:t>
            </a:r>
            <a:r>
              <a:rPr lang="ru-RU" sz="1400" dirty="0" err="1">
                <a:latin typeface="Montserrat" pitchFamily="2" charset="-52"/>
              </a:rPr>
              <a:t>Map</a:t>
            </a:r>
            <a:r>
              <a:rPr lang="ru-RU" sz="1400" dirty="0">
                <a:latin typeface="Montserrat" pitchFamily="2" charset="-52"/>
              </a:rPr>
              <a:t>)*. </a:t>
            </a:r>
          </a:p>
          <a:p>
            <a:endParaRPr lang="ru-RU" sz="1400" dirty="0">
              <a:latin typeface="Montserrat" pitchFamily="2" charset="-52"/>
            </a:endParaRPr>
          </a:p>
          <a:p>
            <a:r>
              <a:rPr lang="ru-RU" sz="1400" dirty="0">
                <a:latin typeface="Montserrat" pitchFamily="2" charset="-52"/>
              </a:rPr>
              <a:t>Главным </a:t>
            </a:r>
            <a:r>
              <a:rPr lang="ru-RU" sz="1400" b="1" dirty="0">
                <a:latin typeface="Montserrat" pitchFamily="2" charset="-52"/>
              </a:rPr>
              <a:t>концептуальным изменением стал отказ от жесткой банковской структуры</a:t>
            </a:r>
            <a:r>
              <a:rPr lang="ru-RU" sz="1400" dirty="0">
                <a:latin typeface="Montserrat" pitchFamily="2" charset="-52"/>
              </a:rPr>
              <a:t> в пользу группировки предложений по жизненным целям клиента. Мы ушли от парадигмы, где витрина работает как рекламный билборд, и спроектировали ее как умного финансового помощника.</a:t>
            </a:r>
          </a:p>
          <a:p>
            <a:endParaRPr lang="ru-RU" sz="1600" dirty="0">
              <a:latin typeface="Montserrat" pitchFamily="2" charset="-52"/>
            </a:endParaRPr>
          </a:p>
          <a:p>
            <a:r>
              <a:rPr lang="ru-RU" sz="1000" i="1" dirty="0">
                <a:latin typeface="Montserrat" pitchFamily="2" charset="-52"/>
              </a:rPr>
              <a:t>*см. Приложение </a:t>
            </a:r>
            <a:r>
              <a:rPr lang="en-US" sz="1000" i="1" dirty="0">
                <a:latin typeface="Montserrat" pitchFamily="2" charset="-52"/>
              </a:rPr>
              <a:t>4</a:t>
            </a:r>
            <a:r>
              <a:rPr lang="ru-RU" sz="1000" i="1" dirty="0">
                <a:latin typeface="Montserrat" pitchFamily="2" charset="-52"/>
              </a:rPr>
              <a:t>: Карта пользовательских историй USM</a:t>
            </a:r>
            <a:endParaRPr lang="ru-RU" sz="1000" dirty="0">
              <a:latin typeface="Montserrat" pitchFamily="2" charset="-52"/>
            </a:endParaRPr>
          </a:p>
          <a:p>
            <a:endParaRPr lang="ru-RU" sz="1600" dirty="0">
              <a:latin typeface="Montserrat" pitchFamily="2" charset="-5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6FD980-E91B-2A14-C54C-A26ACA290AF4}"/>
              </a:ext>
            </a:extLst>
          </p:cNvPr>
          <p:cNvSpPr txBox="1"/>
          <p:nvPr/>
        </p:nvSpPr>
        <p:spPr>
          <a:xfrm>
            <a:off x="5689732" y="1097987"/>
            <a:ext cx="1527732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200" dirty="0">
                <a:solidFill>
                  <a:srgbClr val="0B25F3"/>
                </a:solidFill>
                <a:latin typeface="Montserrat Black" pitchFamily="2" charset="-52"/>
              </a:rPr>
              <a:t>2</a:t>
            </a:r>
            <a:endParaRPr lang="ru-RU" sz="17200" dirty="0">
              <a:solidFill>
                <a:srgbClr val="0B25F3"/>
              </a:solidFill>
              <a:latin typeface="Montserrat Black" pitchFamily="2" charset="-5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13D895-4174-AB4F-8AE7-33F7E518AC33}"/>
              </a:ext>
            </a:extLst>
          </p:cNvPr>
          <p:cNvSpPr txBox="1"/>
          <p:nvPr/>
        </p:nvSpPr>
        <p:spPr>
          <a:xfrm>
            <a:off x="7217464" y="1905513"/>
            <a:ext cx="3942081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latin typeface="Montserrat" pitchFamily="2" charset="-52"/>
              </a:rPr>
              <a:t>В основу целевого состояния легло разделение пользовательского опыта </a:t>
            </a:r>
            <a:r>
              <a:rPr lang="ru-RU" sz="1400" b="1" dirty="0">
                <a:latin typeface="Montserrat" pitchFamily="2" charset="-52"/>
              </a:rPr>
              <a:t>на два независимых потока</a:t>
            </a:r>
            <a:r>
              <a:rPr lang="ru-RU" sz="1400" dirty="0">
                <a:latin typeface="Montserrat" pitchFamily="2" charset="-52"/>
              </a:rPr>
              <a:t>: быстрые рутинные операции и вдумчивое управление капиталом. </a:t>
            </a:r>
          </a:p>
          <a:p>
            <a:endParaRPr lang="ru-RU" sz="1400" dirty="0">
              <a:latin typeface="Montserrat" pitchFamily="2" charset="-52"/>
            </a:endParaRPr>
          </a:p>
          <a:p>
            <a:r>
              <a:rPr lang="ru-RU" sz="1400" dirty="0">
                <a:latin typeface="Montserrat" pitchFamily="2" charset="-52"/>
              </a:rPr>
              <a:t>Такая логика позволила нам </a:t>
            </a:r>
            <a:r>
              <a:rPr lang="ru-RU" sz="1400" dirty="0" err="1">
                <a:latin typeface="Montserrat" pitchFamily="2" charset="-52"/>
              </a:rPr>
              <a:t>приоритизировать</a:t>
            </a:r>
            <a:r>
              <a:rPr lang="ru-RU" sz="1400" dirty="0">
                <a:latin typeface="Montserrat" pitchFamily="2" charset="-52"/>
              </a:rPr>
              <a:t> бэклог разработки, используя подход SMART:</a:t>
            </a:r>
            <a:r>
              <a:rPr lang="ru-RU" sz="1400" b="1" dirty="0">
                <a:latin typeface="Montserrat" pitchFamily="2" charset="-52"/>
              </a:rPr>
              <a:t> для первой итерации </a:t>
            </a:r>
            <a:r>
              <a:rPr lang="ru-RU" sz="1400" dirty="0">
                <a:latin typeface="Montserrat" pitchFamily="2" charset="-52"/>
              </a:rPr>
              <a:t>мы отобрали исключительно конкретные, измеримые и достижимые задачи, которые напрямую решают выявленные боли пользователей. Все второстепенные функции — такие как виджеты частых переводов или обучающий онбординг по инвестициям — были вынесены во вторую итерацию.</a:t>
            </a:r>
          </a:p>
          <a:p>
            <a:endParaRPr lang="ru-RU" sz="1600" dirty="0">
              <a:latin typeface="Montserrat" pitchFamily="2" charset="-52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0BF1C39-2E57-2B56-7B84-85C44F5FFF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5628" y="0"/>
            <a:ext cx="2486372" cy="981212"/>
          </a:xfrm>
          <a:prstGeom prst="rect">
            <a:avLst/>
          </a:prstGeom>
        </p:spPr>
      </p:pic>
      <p:sp>
        <p:nvSpPr>
          <p:cNvPr id="9" name="Google Shape;196;p33">
            <a:extLst>
              <a:ext uri="{FF2B5EF4-FFF2-40B4-BE49-F238E27FC236}">
                <a16:creationId xmlns:a16="http://schemas.microsoft.com/office/drawing/2014/main" id="{35F9CCF1-685E-CEEE-A020-1E83DC2130FA}"/>
              </a:ext>
            </a:extLst>
          </p:cNvPr>
          <p:cNvSpPr txBox="1"/>
          <p:nvPr/>
        </p:nvSpPr>
        <p:spPr>
          <a:xfrm>
            <a:off x="255233" y="6427167"/>
            <a:ext cx="4132800" cy="2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r>
              <a:rPr lang="ru-RU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itchFamily="2" charset="-52"/>
                <a:cs typeface="Aharoni" panose="020F0502020204030204" pitchFamily="2" charset="-79"/>
              </a:rPr>
              <a:t>Сделаем</a:t>
            </a:r>
            <a:r>
              <a:rPr lang="ru-RU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itchFamily="2" charset="-52"/>
              </a:rPr>
              <a:t> витрину </a:t>
            </a:r>
            <a: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itchFamily="2" charset="-52"/>
              </a:rPr>
              <a:t>Great Again</a:t>
            </a:r>
            <a:endParaRPr sz="1050" dirty="0">
              <a:solidFill>
                <a:schemeClr val="tx1">
                  <a:lumMod val="50000"/>
                  <a:lumOff val="50000"/>
                </a:schemeClr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0" name="Google Shape;197;p33">
            <a:extLst>
              <a:ext uri="{FF2B5EF4-FFF2-40B4-BE49-F238E27FC236}">
                <a16:creationId xmlns:a16="http://schemas.microsoft.com/office/drawing/2014/main" id="{679D26DF-0EFB-4771-0A93-6785C1EB7726}"/>
              </a:ext>
            </a:extLst>
          </p:cNvPr>
          <p:cNvSpPr txBox="1"/>
          <p:nvPr/>
        </p:nvSpPr>
        <p:spPr>
          <a:xfrm>
            <a:off x="4388033" y="6427167"/>
            <a:ext cx="1492000" cy="2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/>
            <a:r>
              <a:rPr lang="ru" sz="1200" dirty="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5</a:t>
            </a:r>
            <a:endParaRPr sz="1200" dirty="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  <p:extLst>
      <p:ext uri="{BB962C8B-B14F-4D97-AF65-F5344CB8AC3E}">
        <p14:creationId xmlns:p14="http://schemas.microsoft.com/office/powerpoint/2010/main" val="325305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E40CA31-7C58-8116-500D-308403D6A4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5628" y="0"/>
            <a:ext cx="2486372" cy="9812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8A2AFA1-F9DC-AC3C-9D0B-65B92A3398D6}"/>
              </a:ext>
            </a:extLst>
          </p:cNvPr>
          <p:cNvSpPr txBox="1"/>
          <p:nvPr/>
        </p:nvSpPr>
        <p:spPr>
          <a:xfrm>
            <a:off x="338080" y="451027"/>
            <a:ext cx="112308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rgbClr val="0B25F3"/>
                </a:solidFill>
                <a:latin typeface="Montserrat" pitchFamily="2" charset="-52"/>
              </a:rPr>
              <a:t>Целевой интерфейс </a:t>
            </a:r>
            <a:r>
              <a:rPr lang="ru-RU" sz="2800" b="1" dirty="0">
                <a:latin typeface="Montserrat" pitchFamily="2" charset="-52"/>
              </a:rPr>
              <a:t>— </a:t>
            </a:r>
            <a:r>
              <a:rPr lang="ru-RU" sz="2800" b="1" dirty="0">
                <a:solidFill>
                  <a:srgbClr val="0B25F3"/>
                </a:solidFill>
                <a:latin typeface="Montserrat" pitchFamily="2" charset="-52"/>
              </a:rPr>
              <a:t>финансовый помощник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A7B6C598-B50C-6A3A-D499-29D885F72ED9}"/>
              </a:ext>
            </a:extLst>
          </p:cNvPr>
          <p:cNvSpPr/>
          <p:nvPr/>
        </p:nvSpPr>
        <p:spPr>
          <a:xfrm>
            <a:off x="317774" y="1335599"/>
            <a:ext cx="6017334" cy="1592825"/>
          </a:xfrm>
          <a:prstGeom prst="roundRect">
            <a:avLst>
              <a:gd name="adj" fmla="val 4805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6"/>
          </a:lnRef>
          <a:fillRef idx="1003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ru-RU" sz="1100" dirty="0">
                <a:latin typeface="Montserrat" pitchFamily="2" charset="-52"/>
              </a:rPr>
              <a:t>Для решения проблемы </a:t>
            </a:r>
            <a:r>
              <a:rPr lang="ru-RU" sz="1100" b="1" dirty="0">
                <a:latin typeface="Montserrat" pitchFamily="2" charset="-52"/>
              </a:rPr>
              <a:t>«визуального мусора</a:t>
            </a:r>
            <a:r>
              <a:rPr lang="ru-RU" sz="1100" dirty="0">
                <a:latin typeface="Montserrat" pitchFamily="2" charset="-52"/>
              </a:rPr>
              <a:t>» и перекрытия контента мы заложили в первую итерацию жесткую фиксацию базовых инструментов. Теперь переводы и оплата по QR через СБП выведены в виде крупных </a:t>
            </a:r>
            <a:r>
              <a:rPr lang="ru-RU" sz="1100" b="1" dirty="0">
                <a:latin typeface="Montserrat" pitchFamily="2" charset="-52"/>
              </a:rPr>
              <a:t>«горячих клавиш» </a:t>
            </a:r>
            <a:r>
              <a:rPr lang="ru-RU" sz="1100" dirty="0">
                <a:latin typeface="Montserrat" pitchFamily="2" charset="-52"/>
              </a:rPr>
              <a:t>на единый главный фрейм со счетом клиента. Под ним выстроена динамическая структура: блоки активных кредитов и вкладов, а при их отсутствии — компактная лента трех последних операций. Чтобы вернуть пользователю контроль, маркетинговые предложения над счетом стали </a:t>
            </a:r>
            <a:r>
              <a:rPr lang="ru-RU" sz="1100" b="1" dirty="0" err="1">
                <a:latin typeface="Montserrat" pitchFamily="2" charset="-52"/>
              </a:rPr>
              <a:t>гиперперсонализированными</a:t>
            </a:r>
            <a:r>
              <a:rPr lang="ru-RU" sz="1100" dirty="0">
                <a:latin typeface="Montserrat" pitchFamily="2" charset="-52"/>
              </a:rPr>
              <a:t> и получили функцию ручного закрытия.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1E483F57-8A37-FD1C-F096-19F9AEED3B09}"/>
              </a:ext>
            </a:extLst>
          </p:cNvPr>
          <p:cNvSpPr/>
          <p:nvPr/>
        </p:nvSpPr>
        <p:spPr>
          <a:xfrm>
            <a:off x="317774" y="3289776"/>
            <a:ext cx="6017335" cy="2589106"/>
          </a:xfrm>
          <a:prstGeom prst="roundRect">
            <a:avLst>
              <a:gd name="adj" fmla="val 4135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ru-RU" sz="1100" dirty="0">
                <a:latin typeface="Montserrat" pitchFamily="2" charset="-52"/>
              </a:rPr>
              <a:t>Для устранения когнитивного барьера при выборе сложных продуктов мы переработали логику каталога, разделив витрину </a:t>
            </a:r>
            <a:r>
              <a:rPr lang="ru-RU" sz="1100" b="1" dirty="0">
                <a:latin typeface="Montserrat" pitchFamily="2" charset="-52"/>
              </a:rPr>
              <a:t>на прозрачные категории</a:t>
            </a:r>
            <a:r>
              <a:rPr lang="ru-RU" sz="1100" dirty="0">
                <a:latin typeface="Montserrat" pitchFamily="2" charset="-52"/>
              </a:rPr>
              <a:t>:</a:t>
            </a:r>
            <a:r>
              <a:rPr lang="ru-RU" sz="1100" b="1" dirty="0">
                <a:latin typeface="Montserrat" pitchFamily="2" charset="-52"/>
              </a:rPr>
              <a:t> </a:t>
            </a:r>
            <a:r>
              <a:rPr lang="ru-RU" sz="1100" dirty="0">
                <a:latin typeface="Montserrat" pitchFamily="2" charset="-52"/>
              </a:rPr>
              <a:t>Карты, Инвестиции, Вклады и Кредиты*. Теперь банк не навязывает долги клиентам с запросом на сбережения. Вместо пугающих аббревиатур и сухого юридического текста мы внедрили </a:t>
            </a:r>
            <a:r>
              <a:rPr lang="ru-RU" sz="1100" b="1" dirty="0">
                <a:latin typeface="Montserrat" pitchFamily="2" charset="-52"/>
              </a:rPr>
              <a:t>интуитивно понятные сценарии</a:t>
            </a:r>
            <a:r>
              <a:rPr lang="ru-RU" sz="1100" dirty="0">
                <a:latin typeface="Montserrat" pitchFamily="2" charset="-52"/>
              </a:rPr>
              <a:t>, а в раздел инвестиций на первое место вывели интерактивный калькулятор. Вводя сумму и желаемый срок, клиент моментально оценивает выгоду и подбирает продукт, не покидая цифровой контур и не погружаясь в сложный сленг. Такая </a:t>
            </a:r>
            <a:r>
              <a:rPr lang="ru-RU" sz="1100" b="1" dirty="0">
                <a:latin typeface="Montserrat" pitchFamily="2" charset="-52"/>
              </a:rPr>
              <a:t>приоритизация бэклога гарантирует</a:t>
            </a:r>
            <a:r>
              <a:rPr lang="ru-RU" sz="1100" dirty="0">
                <a:latin typeface="Montserrat" pitchFamily="2" charset="-52"/>
              </a:rPr>
              <a:t>, что уже в первом релизе мы устраним критические точки оттока и обеспечим пользователям по-настоящему </a:t>
            </a:r>
            <a:r>
              <a:rPr lang="ru-RU" sz="1100" b="1" dirty="0">
                <a:latin typeface="Montserrat" pitchFamily="2" charset="-52"/>
              </a:rPr>
              <a:t>бесшовный опыт </a:t>
            </a:r>
          </a:p>
          <a:p>
            <a:pPr algn="just"/>
            <a:endParaRPr lang="ru-RU" sz="1100" i="1" dirty="0">
              <a:latin typeface="Montserrat" pitchFamily="2" charset="-52"/>
            </a:endParaRPr>
          </a:p>
          <a:p>
            <a:pPr algn="just"/>
            <a:r>
              <a:rPr lang="ru-RU" sz="1100" i="1" dirty="0">
                <a:latin typeface="Montserrat" pitchFamily="2" charset="-52"/>
              </a:rPr>
              <a:t>*см. Приложение 5: Интерактивный Lo-Fi прототип To-Be</a:t>
            </a:r>
            <a:endParaRPr lang="ru-RU" sz="1100" dirty="0">
              <a:latin typeface="Montserrat" pitchFamily="2" charset="-52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0C2D014-F92B-B6EE-18D8-17710FA095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8276" y="1372251"/>
            <a:ext cx="2234115" cy="485725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7292DB7-F14F-009B-690C-9E86B3D0F4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2216" y="1335599"/>
            <a:ext cx="2234114" cy="4857251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5BE29E8E-CCAD-A7AB-4153-B4DD5FE7A07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4626" y="1116027"/>
            <a:ext cx="2529294" cy="5171000"/>
          </a:xfrm>
          <a:prstGeom prst="rect">
            <a:avLst/>
          </a:prstGeom>
          <a:ln>
            <a:noFill/>
          </a:ln>
          <a:effectLst>
            <a:outerShdw blurRad="292100" sx="102000" sy="102000" algn="tl" rotWithShape="0">
              <a:srgbClr val="333333">
                <a:alpha val="40000"/>
              </a:srgbClr>
            </a:outerShdw>
          </a:effectLst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6FD1D19-FC86-B356-E7CB-A149B923AA0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0686" y="1174578"/>
            <a:ext cx="2529294" cy="5171000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pic>
      <p:sp>
        <p:nvSpPr>
          <p:cNvPr id="15" name="Прямоугольник: скругленные углы 14">
            <a:hlinkClick r:id="rId7"/>
            <a:extLst>
              <a:ext uri="{FF2B5EF4-FFF2-40B4-BE49-F238E27FC236}">
                <a16:creationId xmlns:a16="http://schemas.microsoft.com/office/drawing/2014/main" id="{13D9F47A-D407-03F4-A143-1C1E82C52BBB}"/>
              </a:ext>
            </a:extLst>
          </p:cNvPr>
          <p:cNvSpPr/>
          <p:nvPr/>
        </p:nvSpPr>
        <p:spPr>
          <a:xfrm>
            <a:off x="9472216" y="6359190"/>
            <a:ext cx="2455277" cy="334005"/>
          </a:xfrm>
          <a:prstGeom prst="roundRect">
            <a:avLst/>
          </a:prstGeom>
          <a:solidFill>
            <a:srgbClr val="0B25F3"/>
          </a:solidFill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050" dirty="0">
                <a:solidFill>
                  <a:schemeClr val="bg1"/>
                </a:solidFill>
                <a:latin typeface="Montserrat" pitchFamily="2" charset="-52"/>
              </a:rPr>
              <a:t>Открыть прототип в </a:t>
            </a:r>
            <a:r>
              <a:rPr lang="en-US" sz="1050" dirty="0">
                <a:solidFill>
                  <a:schemeClr val="bg1"/>
                </a:solidFill>
                <a:latin typeface="Montserrat" pitchFamily="2" charset="-52"/>
              </a:rPr>
              <a:t>Figma</a:t>
            </a:r>
            <a:endParaRPr lang="ru-RU" sz="1050" dirty="0">
              <a:solidFill>
                <a:schemeClr val="bg1"/>
              </a:solidFill>
              <a:latin typeface="Montserrat" pitchFamily="2" charset="-52"/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2413E8A7-C003-8A28-02F1-00E85DA0797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8950" y="6395431"/>
            <a:ext cx="261522" cy="261522"/>
          </a:xfrm>
          <a:prstGeom prst="rect">
            <a:avLst/>
          </a:prstGeom>
        </p:spPr>
      </p:pic>
      <p:sp>
        <p:nvSpPr>
          <p:cNvPr id="6" name="Google Shape;196;p33">
            <a:extLst>
              <a:ext uri="{FF2B5EF4-FFF2-40B4-BE49-F238E27FC236}">
                <a16:creationId xmlns:a16="http://schemas.microsoft.com/office/drawing/2014/main" id="{3E8C6E0A-F1BC-B2C6-A452-3C8815033DA7}"/>
              </a:ext>
            </a:extLst>
          </p:cNvPr>
          <p:cNvSpPr txBox="1"/>
          <p:nvPr/>
        </p:nvSpPr>
        <p:spPr>
          <a:xfrm>
            <a:off x="255233" y="6427167"/>
            <a:ext cx="4132800" cy="2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r>
              <a:rPr lang="ru-RU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itchFamily="2" charset="-52"/>
                <a:cs typeface="Aharoni" panose="020F0502020204030204" pitchFamily="2" charset="-79"/>
              </a:rPr>
              <a:t>Сделаем</a:t>
            </a:r>
            <a:r>
              <a:rPr lang="ru-RU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itchFamily="2" charset="-52"/>
              </a:rPr>
              <a:t> витрину </a:t>
            </a:r>
            <a: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itchFamily="2" charset="-52"/>
              </a:rPr>
              <a:t>Great Again</a:t>
            </a:r>
            <a:endParaRPr sz="1050" dirty="0">
              <a:solidFill>
                <a:schemeClr val="tx1">
                  <a:lumMod val="50000"/>
                  <a:lumOff val="50000"/>
                </a:schemeClr>
              </a:solidFill>
              <a:latin typeface="Montserrat" pitchFamily="2" charset="-52"/>
              <a:ea typeface="Inter Medium"/>
              <a:cs typeface="Inter Medium"/>
              <a:sym typeface="Inter Medium"/>
            </a:endParaRPr>
          </a:p>
        </p:txBody>
      </p:sp>
      <p:sp>
        <p:nvSpPr>
          <p:cNvPr id="7" name="Google Shape;197;p33">
            <a:extLst>
              <a:ext uri="{FF2B5EF4-FFF2-40B4-BE49-F238E27FC236}">
                <a16:creationId xmlns:a16="http://schemas.microsoft.com/office/drawing/2014/main" id="{43A95A05-6849-6BC1-5219-1F9D04217328}"/>
              </a:ext>
            </a:extLst>
          </p:cNvPr>
          <p:cNvSpPr txBox="1"/>
          <p:nvPr/>
        </p:nvSpPr>
        <p:spPr>
          <a:xfrm>
            <a:off x="4388033" y="6427167"/>
            <a:ext cx="1492000" cy="2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/>
            <a:r>
              <a:rPr lang="ru" sz="1200" dirty="0">
                <a:solidFill>
                  <a:schemeClr val="dk1"/>
                </a:solidFill>
                <a:latin typeface="Montserrat" pitchFamily="2" charset="-52"/>
                <a:ea typeface="Inter Medium"/>
                <a:cs typeface="Inter Medium"/>
                <a:sym typeface="Inter Medium"/>
              </a:rPr>
              <a:t>6</a:t>
            </a:r>
            <a:endParaRPr sz="1200" dirty="0">
              <a:solidFill>
                <a:schemeClr val="dk1"/>
              </a:solidFill>
              <a:latin typeface="Montserrat" pitchFamily="2" charset="-52"/>
              <a:ea typeface="Inter Medium"/>
              <a:cs typeface="Inter Medium"/>
              <a:sym typeface="Inter Medium"/>
            </a:endParaRPr>
          </a:p>
        </p:txBody>
      </p:sp>
    </p:spTree>
    <p:extLst>
      <p:ext uri="{BB962C8B-B14F-4D97-AF65-F5344CB8AC3E}">
        <p14:creationId xmlns:p14="http://schemas.microsoft.com/office/powerpoint/2010/main" val="3213687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90E7AB-FF8F-B6C9-EA7B-73530AD03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D7308EB-8F5E-E861-DB4C-2426D8CAA5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64" b="4390"/>
          <a:stretch>
            <a:fillRect/>
          </a:stretch>
        </p:blipFill>
        <p:spPr>
          <a:xfrm>
            <a:off x="-23891" y="0"/>
            <a:ext cx="12191980" cy="6856718"/>
          </a:xfrm>
          <a:prstGeom prst="rect">
            <a:avLst/>
          </a:prstGeom>
        </p:spPr>
      </p:pic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5D5EC279-7932-D55E-D3CC-5176AA07E420}"/>
              </a:ext>
            </a:extLst>
          </p:cNvPr>
          <p:cNvSpPr/>
          <p:nvPr/>
        </p:nvSpPr>
        <p:spPr>
          <a:xfrm>
            <a:off x="1913308" y="1254191"/>
            <a:ext cx="8365363" cy="1377363"/>
          </a:xfrm>
          <a:prstGeom prst="roundRect">
            <a:avLst>
              <a:gd name="adj" fmla="val 4805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6"/>
          </a:lnRef>
          <a:fillRef idx="1003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050" b="1" dirty="0">
                <a:solidFill>
                  <a:srgbClr val="090909"/>
                </a:solidFill>
                <a:latin typeface="Montserrat" pitchFamily="2" charset="-52"/>
              </a:rPr>
              <a:t>Все предложения банка</a:t>
            </a:r>
            <a:r>
              <a:rPr lang="ru-RU" sz="1050" dirty="0">
                <a:solidFill>
                  <a:srgbClr val="090909"/>
                </a:solidFill>
                <a:latin typeface="Montserrat" pitchFamily="2" charset="-52"/>
              </a:rPr>
              <a:t> — акции, </a:t>
            </a:r>
            <a:r>
              <a:rPr lang="ru-RU" sz="1050" dirty="0" err="1">
                <a:solidFill>
                  <a:srgbClr val="090909"/>
                </a:solidFill>
                <a:latin typeface="Montserrat" pitchFamily="2" charset="-52"/>
              </a:rPr>
              <a:t>кэшбэк</a:t>
            </a:r>
            <a:r>
              <a:rPr lang="ru-RU" sz="1050" dirty="0">
                <a:solidFill>
                  <a:srgbClr val="090909"/>
                </a:solidFill>
                <a:latin typeface="Montserrat" pitchFamily="2" charset="-52"/>
              </a:rPr>
              <a:t> и </a:t>
            </a:r>
            <a:r>
              <a:rPr lang="ru-RU" sz="1050" dirty="0" err="1">
                <a:solidFill>
                  <a:srgbClr val="090909"/>
                </a:solidFill>
                <a:latin typeface="Montserrat" pitchFamily="2" charset="-52"/>
              </a:rPr>
              <a:t>спецофферы</a:t>
            </a:r>
            <a:r>
              <a:rPr lang="ru-RU" sz="1050" dirty="0">
                <a:solidFill>
                  <a:srgbClr val="090909"/>
                </a:solidFill>
                <a:latin typeface="Montserrat" pitchFamily="2" charset="-52"/>
              </a:rPr>
              <a:t> — вынесены на отдельный экран витрины. Это разгружает главный интерфейс и концентрирует </a:t>
            </a:r>
            <a:r>
              <a:rPr lang="ru-RU" sz="1050" b="1" dirty="0">
                <a:solidFill>
                  <a:srgbClr val="090909"/>
                </a:solidFill>
                <a:latin typeface="Montserrat" pitchFamily="2" charset="-52"/>
              </a:rPr>
              <a:t>всю выгоду в одном месте</a:t>
            </a:r>
            <a:r>
              <a:rPr lang="ru-RU" sz="1050" dirty="0">
                <a:solidFill>
                  <a:srgbClr val="090909"/>
                </a:solidFill>
                <a:latin typeface="Montserrat" pitchFamily="2" charset="-52"/>
              </a:rPr>
              <a:t>. Пользователь приходит за конкретной акцией или </a:t>
            </a:r>
            <a:r>
              <a:rPr lang="ru-RU" sz="1050" dirty="0" err="1">
                <a:solidFill>
                  <a:srgbClr val="090909"/>
                </a:solidFill>
                <a:latin typeface="Montserrat" pitchFamily="2" charset="-52"/>
              </a:rPr>
              <a:t>кэшбэком</a:t>
            </a:r>
            <a:r>
              <a:rPr lang="ru-RU" sz="1050" dirty="0">
                <a:solidFill>
                  <a:srgbClr val="090909"/>
                </a:solidFill>
                <a:latin typeface="Montserrat" pitchFamily="2" charset="-52"/>
              </a:rPr>
              <a:t>, но, находясь в пространстве выгод, естественно замечает и другие предложения банка. Мы пересобрали логику продаж: </a:t>
            </a:r>
            <a:r>
              <a:rPr lang="ru-RU" sz="1050" b="1" dirty="0">
                <a:solidFill>
                  <a:srgbClr val="090909"/>
                </a:solidFill>
                <a:latin typeface="Montserrat" pitchFamily="2" charset="-52"/>
              </a:rPr>
              <a:t>вместо агрессивного навязывания</a:t>
            </a:r>
            <a:r>
              <a:rPr lang="ru-RU" sz="1050" dirty="0">
                <a:solidFill>
                  <a:srgbClr val="090909"/>
                </a:solidFill>
                <a:latin typeface="Montserrat" pitchFamily="2" charset="-52"/>
              </a:rPr>
              <a:t> —</a:t>
            </a:r>
            <a:r>
              <a:rPr lang="ru-RU" sz="1050" b="1" dirty="0">
                <a:solidFill>
                  <a:srgbClr val="090909"/>
                </a:solidFill>
                <a:latin typeface="Montserrat" pitchFamily="2" charset="-52"/>
              </a:rPr>
              <a:t> п</a:t>
            </a:r>
            <a:r>
              <a:rPr lang="ru-RU" sz="1050" b="1" dirty="0">
                <a:latin typeface="Montserrat" pitchFamily="2" charset="-52"/>
              </a:rPr>
              <a:t>редложения встроены в «бесшовный» пользовательский путь</a:t>
            </a:r>
            <a:r>
              <a:rPr lang="ru-RU" sz="1050" dirty="0">
                <a:solidFill>
                  <a:srgbClr val="090909"/>
                </a:solidFill>
                <a:latin typeface="Montserrat" pitchFamily="2" charset="-52"/>
              </a:rPr>
              <a:t>. Цель — превратить ежедневные операции в естественные точки конверсии. Такой подход напрямую переводит улучшение в измеримый бизнес-результат</a:t>
            </a:r>
            <a:endParaRPr lang="ru-RU" sz="1050" dirty="0">
              <a:latin typeface="Montserrat" pitchFamily="2" charset="-52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C331135-7190-B3CF-46E9-5570E3A02BC8}"/>
              </a:ext>
            </a:extLst>
          </p:cNvPr>
          <p:cNvSpPr/>
          <p:nvPr/>
        </p:nvSpPr>
        <p:spPr>
          <a:xfrm>
            <a:off x="1625600" y="588651"/>
            <a:ext cx="8940800" cy="5016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rgbClr val="0B25F3"/>
                </a:solidFill>
                <a:latin typeface="Montserrat" pitchFamily="2" charset="-52"/>
              </a:rPr>
              <a:t>Бизнес-ценность решения</a:t>
            </a:r>
            <a:endParaRPr lang="ru-RU" sz="3600" b="1" dirty="0">
              <a:solidFill>
                <a:srgbClr val="0B25F3"/>
              </a:solidFill>
              <a:latin typeface="Montserrat" pitchFamily="2" charset="-52"/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6DD508B2-C7CA-1A61-6BD1-D831E35EEA7D}"/>
              </a:ext>
            </a:extLst>
          </p:cNvPr>
          <p:cNvSpPr/>
          <p:nvPr/>
        </p:nvSpPr>
        <p:spPr>
          <a:xfrm>
            <a:off x="1913309" y="2795455"/>
            <a:ext cx="8365362" cy="2258185"/>
          </a:xfrm>
          <a:prstGeom prst="roundRect">
            <a:avLst>
              <a:gd name="adj" fmla="val 4805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6"/>
          </a:lnRef>
          <a:fillRef idx="1003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050" b="1" dirty="0">
                <a:solidFill>
                  <a:srgbClr val="090909"/>
                </a:solidFill>
                <a:latin typeface="Montserrat" pitchFamily="2" charset="-52"/>
              </a:rPr>
              <a:t>Новая витрина </a:t>
            </a:r>
            <a:r>
              <a:rPr lang="ru-RU" sz="1050" dirty="0">
                <a:solidFill>
                  <a:srgbClr val="090909"/>
                </a:solidFill>
                <a:latin typeface="Montserrat" pitchFamily="2" charset="-52"/>
              </a:rPr>
              <a:t>создает три ключевых эффекта:</a:t>
            </a:r>
          </a:p>
          <a:p>
            <a:endParaRPr lang="ru-RU" sz="1050" dirty="0">
              <a:solidFill>
                <a:srgbClr val="090909"/>
              </a:solidFill>
              <a:latin typeface="Montserrat" pitchFamily="2" charset="-52"/>
            </a:endParaRPr>
          </a:p>
          <a:p>
            <a:r>
              <a:rPr lang="ru-RU" b="1" dirty="0">
                <a:solidFill>
                  <a:srgbClr val="0B25F3"/>
                </a:solidFill>
                <a:latin typeface="Montserrat" pitchFamily="2" charset="-52"/>
              </a:rPr>
              <a:t>1 </a:t>
            </a:r>
            <a:r>
              <a:rPr lang="ru-RU" sz="1050" b="1" dirty="0">
                <a:solidFill>
                  <a:srgbClr val="090909"/>
                </a:solidFill>
                <a:latin typeface="Montserrat" pitchFamily="2" charset="-52"/>
              </a:rPr>
              <a:t>Снижение Time-to-</a:t>
            </a:r>
            <a:r>
              <a:rPr lang="ru-RU" sz="1050" b="1" dirty="0" err="1">
                <a:solidFill>
                  <a:srgbClr val="090909"/>
                </a:solidFill>
                <a:latin typeface="Montserrat" pitchFamily="2" charset="-52"/>
              </a:rPr>
              <a:t>action</a:t>
            </a:r>
            <a:r>
              <a:rPr lang="ru-RU" sz="1050" b="1" dirty="0">
                <a:solidFill>
                  <a:srgbClr val="090909"/>
                </a:solidFill>
                <a:latin typeface="Montserrat" pitchFamily="2" charset="-52"/>
              </a:rPr>
              <a:t> и рост DAU.</a:t>
            </a:r>
            <a:br>
              <a:rPr lang="ru-RU" sz="1050" dirty="0">
                <a:solidFill>
                  <a:srgbClr val="090909"/>
                </a:solidFill>
                <a:latin typeface="Montserrat" pitchFamily="2" charset="-52"/>
              </a:rPr>
            </a:br>
            <a:r>
              <a:rPr lang="ru-RU" sz="1050" dirty="0">
                <a:solidFill>
                  <a:srgbClr val="090909"/>
                </a:solidFill>
                <a:latin typeface="Montserrat" pitchFamily="2" charset="-52"/>
              </a:rPr>
              <a:t>«Горячие клавиши» СБП и QR-оплаты на главном экране ускоряют рутинные операции и делают приложение удобным финансовым инструментом на каждый день.</a:t>
            </a:r>
          </a:p>
          <a:p>
            <a:r>
              <a:rPr lang="ru-RU" b="1" dirty="0">
                <a:solidFill>
                  <a:srgbClr val="0B25F3"/>
                </a:solidFill>
                <a:latin typeface="Montserrat" pitchFamily="2" charset="-52"/>
              </a:rPr>
              <a:t>2</a:t>
            </a:r>
            <a:r>
              <a:rPr lang="ru-RU" sz="1050" b="1" dirty="0">
                <a:solidFill>
                  <a:srgbClr val="090909"/>
                </a:solidFill>
                <a:latin typeface="Montserrat" pitchFamily="2" charset="-52"/>
              </a:rPr>
              <a:t> Рост CR в целевые продукты.</a:t>
            </a:r>
            <a:br>
              <a:rPr lang="ru-RU" sz="1050" dirty="0">
                <a:solidFill>
                  <a:srgbClr val="090909"/>
                </a:solidFill>
                <a:latin typeface="Montserrat" pitchFamily="2" charset="-52"/>
              </a:rPr>
            </a:br>
            <a:r>
              <a:rPr lang="ru-RU" sz="1050" dirty="0">
                <a:solidFill>
                  <a:srgbClr val="090909"/>
                </a:solidFill>
                <a:latin typeface="Montserrat" pitchFamily="2" charset="-52"/>
              </a:rPr>
              <a:t>Интерактивный инвестиционный калькулятор и замена банковского сленга на понятные жизненные сценарии снимают когнитивные барьеры и повышают конверсию в открытие вкладов и счетов.</a:t>
            </a:r>
          </a:p>
          <a:p>
            <a:r>
              <a:rPr lang="ru-RU" b="1">
                <a:solidFill>
                  <a:srgbClr val="0B25F3"/>
                </a:solidFill>
                <a:latin typeface="Montserrat" pitchFamily="2" charset="-52"/>
              </a:rPr>
              <a:t>3 </a:t>
            </a:r>
            <a:r>
              <a:rPr lang="ru-RU" sz="1050" b="1">
                <a:solidFill>
                  <a:srgbClr val="090909"/>
                </a:solidFill>
                <a:latin typeface="Montserrat" pitchFamily="2" charset="-52"/>
              </a:rPr>
              <a:t>Рост </a:t>
            </a:r>
            <a:r>
              <a:rPr lang="ru-RU" sz="1050" b="1" dirty="0">
                <a:solidFill>
                  <a:srgbClr val="090909"/>
                </a:solidFill>
                <a:latin typeface="Montserrat" pitchFamily="2" charset="-52"/>
              </a:rPr>
              <a:t>ARPU.</a:t>
            </a:r>
            <a:br>
              <a:rPr lang="ru-RU" sz="1050" dirty="0">
                <a:solidFill>
                  <a:srgbClr val="090909"/>
                </a:solidFill>
                <a:latin typeface="Montserrat" pitchFamily="2" charset="-52"/>
              </a:rPr>
            </a:br>
            <a:r>
              <a:rPr lang="ru-RU" sz="1050" dirty="0" err="1">
                <a:solidFill>
                  <a:srgbClr val="090909"/>
                </a:solidFill>
                <a:latin typeface="Montserrat" pitchFamily="2" charset="-52"/>
              </a:rPr>
              <a:t>Гиперперсонализированные</a:t>
            </a:r>
            <a:r>
              <a:rPr lang="ru-RU" sz="1050" dirty="0">
                <a:solidFill>
                  <a:srgbClr val="090909"/>
                </a:solidFill>
                <a:latin typeface="Montserrat" pitchFamily="2" charset="-52"/>
              </a:rPr>
              <a:t> предложения с возможностью закрытия разрушают баннерную слепоту, повышают видимость релевантных офферов и стимулируют органические кросс-продажи.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B0F49704-0512-76A4-A579-740D8AD6ED17}"/>
              </a:ext>
            </a:extLst>
          </p:cNvPr>
          <p:cNvSpPr/>
          <p:nvPr/>
        </p:nvSpPr>
        <p:spPr>
          <a:xfrm>
            <a:off x="1889417" y="5217541"/>
            <a:ext cx="8365363" cy="737895"/>
          </a:xfrm>
          <a:prstGeom prst="roundRect">
            <a:avLst>
              <a:gd name="adj" fmla="val 4805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6"/>
          </a:lnRef>
          <a:fillRef idx="1003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000" b="1" dirty="0">
                <a:solidFill>
                  <a:srgbClr val="090909"/>
                </a:solidFill>
                <a:latin typeface="Montserrat" pitchFamily="2" charset="-52"/>
              </a:rPr>
              <a:t>Итог:</a:t>
            </a:r>
            <a:r>
              <a:rPr lang="ru-RU" sz="1000" dirty="0">
                <a:solidFill>
                  <a:srgbClr val="090909"/>
                </a:solidFill>
                <a:latin typeface="Montserrat" pitchFamily="2" charset="-52"/>
              </a:rPr>
              <a:t> предложенная архитектура завершает переход от перегруженного </a:t>
            </a:r>
            <a:r>
              <a:rPr lang="ru-RU" sz="1000" dirty="0" err="1">
                <a:solidFill>
                  <a:srgbClr val="090909"/>
                </a:solidFill>
                <a:latin typeface="Montserrat" pitchFamily="2" charset="-52"/>
              </a:rPr>
              <a:t>супераппа</a:t>
            </a:r>
            <a:r>
              <a:rPr lang="ru-RU" sz="1000" dirty="0">
                <a:solidFill>
                  <a:srgbClr val="090909"/>
                </a:solidFill>
                <a:latin typeface="Montserrat" pitchFamily="2" charset="-52"/>
              </a:rPr>
              <a:t> к модели финансового помощника. Интерфейс помогает пользователю решать реальные финансовые задачи, а ежедневные действия превращаются в естественные точки продаж, обеспечивая рост ключевых бизнес-метрик банка.</a:t>
            </a:r>
          </a:p>
          <a:p>
            <a:r>
              <a:rPr lang="ru-RU" sz="1000" dirty="0">
                <a:solidFill>
                  <a:srgbClr val="090909"/>
                </a:solidFill>
                <a:latin typeface="Montserrat" pitchFamily="2" charset="-52"/>
              </a:rPr>
              <a:t>напрямую переводит улучшение UX в измеримый бизнес-результат</a:t>
            </a:r>
            <a:endParaRPr lang="ru-RU" sz="1000" dirty="0">
              <a:latin typeface="Montserrat" pitchFamily="2" charset="-5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5ADCD5-AA89-5880-7070-19782BF5A52A}"/>
              </a:ext>
            </a:extLst>
          </p:cNvPr>
          <p:cNvSpPr txBox="1"/>
          <p:nvPr/>
        </p:nvSpPr>
        <p:spPr>
          <a:xfrm>
            <a:off x="2113280" y="1171599"/>
            <a:ext cx="9022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ru-RU" dirty="0">
              <a:effectLst/>
              <a:latin typeface="Montserrat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590471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610FBF58-326A-9021-1619-CE014132E3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6378"/>
            <a:ext cx="12192000" cy="3645243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BADE1EC0-00FE-2711-662B-DA224A4E27EC}"/>
              </a:ext>
            </a:extLst>
          </p:cNvPr>
          <p:cNvSpPr txBox="1"/>
          <p:nvPr/>
        </p:nvSpPr>
        <p:spPr>
          <a:xfrm>
            <a:off x="1651819" y="300077"/>
            <a:ext cx="888836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200" b="1" i="1" dirty="0">
                <a:latin typeface="Montserrat" pitchFamily="2" charset="-52"/>
              </a:rPr>
              <a:t>Приложение 1: Модель процесса A</a:t>
            </a:r>
            <a:r>
              <a:rPr lang="en-US" sz="2200" b="1" i="1" dirty="0">
                <a:latin typeface="Montserrat" pitchFamily="2" charset="-52"/>
              </a:rPr>
              <a:t>S</a:t>
            </a:r>
            <a:r>
              <a:rPr lang="ru-RU" sz="2200" b="1" i="1" dirty="0">
                <a:latin typeface="Montserrat" pitchFamily="2" charset="-52"/>
              </a:rPr>
              <a:t>-I</a:t>
            </a:r>
            <a:r>
              <a:rPr lang="en-US" sz="2200" b="1" i="1" dirty="0">
                <a:latin typeface="Montserrat" pitchFamily="2" charset="-52"/>
              </a:rPr>
              <a:t>S</a:t>
            </a:r>
            <a:r>
              <a:rPr lang="ru-RU" sz="2200" b="1" i="1" dirty="0">
                <a:latin typeface="Montserrat" pitchFamily="2" charset="-52"/>
              </a:rPr>
              <a:t> в нотации BPMN</a:t>
            </a:r>
            <a:endParaRPr lang="ru-RU" sz="2200" b="1" dirty="0">
              <a:latin typeface="Montserrat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849434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7E1399F-0BCA-07FC-5E39-2C99BB4E1133}"/>
              </a:ext>
            </a:extLst>
          </p:cNvPr>
          <p:cNvSpPr txBox="1"/>
          <p:nvPr/>
        </p:nvSpPr>
        <p:spPr>
          <a:xfrm>
            <a:off x="3048000" y="91889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200" b="1" i="1" dirty="0">
                <a:latin typeface="Montserrat" pitchFamily="2" charset="-52"/>
              </a:rPr>
              <a:t>Приложение 2: Карта пути клиента</a:t>
            </a:r>
          </a:p>
        </p:txBody>
      </p:sp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0F9A9399-63F3-9BCB-67EA-CA6F50236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2776"/>
            <a:ext cx="12192000" cy="581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6641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CC2B132-9C18-2D85-6506-FD835EA2AB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916" y="563969"/>
            <a:ext cx="10961225" cy="64479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Цель исследования: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Выявление барьеров пользовательского пути и проверка гипотезы баннерной слепоты и когнитивной перегрузки.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Выборка: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3 респондента разных профилей — фрилансер, владелец бизнеса, руководитель , использующие приложение для разных задач: накопления, рутина, инвестиции.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Общие выводы и выявленные барьеры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Разрушение визуальной иерархии и перекрытие контента: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Агрессивные маркетинговые блоки, такие как сторис и баннеры, а также плавающие кнопки конфликтуют с базовым функционалом. Они физически перекрывают полезный текст с условиями продуктов и нижнее навигационное меню , а также смещают фокус с востребованных кнопок СБП и QR, которые сливаются с фоном.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Отсутствие персонализации и негибкая витрина: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Приложение предлагает статичный каталог, где на первых строчках безальтернативно продвигаются кредиты. Это вызывает отторжение у клиентов, которые заходят в банк с целью сохранить или приумножить свободные средства.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Когнитивный перегруз и парадокс выбора: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Вместо понятных жизненных сценариев вроде предложения копить и снимать банк вываливает на клиента сухой юридический текст и сложные аббревиатуры ПИФ, ИСЖ, НСЖ. Пользователи пугаются заморозки средств и уходят к конкурентам.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Доказательная база: Фрагменты транскриптов*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Подтверждение визуального шума: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«Пока я пыталась разобраться в разнице между счетом и вкладом, меня постоянно отвлекала плавающая фиолетовая кнопка "до 2 500 ₽ за друга". Она просто визуально перекрывала часть полезного текста! Я ее скроллю, а она ползет за мной.» — </a:t>
            </a: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Ольга, 28 лет, ID-001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Подтверждение негибкого каталога и сложных терминов: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«Я перешла во вкладку "Оформить", ожидая увидеть какую-то витрину сбережений... Но банк мне в первую очередь пытается впарить долги: на первом месте висит "Возьмите наличные", потом "Кредитная карта"... Когда я всё-таки нашла инвестиционные продукты, на меня вывалили сложные аббревиатуры — ПИФы, ИСЖ, НСЖ. Продиралась сквозь термины минут десять.» — </a:t>
            </a: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Елена, 34 года, ID-003</a:t>
            </a:r>
          </a:p>
          <a:p>
            <a:pPr marL="0" marR="0" lvl="0" indent="0" algn="l" defTabSz="914400" rtl="0" eaLnBrk="0" fontAlgn="base" latinLnBrk="0" hangingPunct="0"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altLang="ru-RU" sz="1200" b="1" dirty="0"/>
          </a:p>
          <a:p>
            <a:pPr eaLnBrk="0" fontAlgn="base" hangingPunct="0">
              <a:lnSpc>
                <a:spcPct val="50000"/>
              </a:lnSpc>
              <a:spcAft>
                <a:spcPct val="0"/>
              </a:spcAft>
            </a:pPr>
            <a:r>
              <a:rPr kumimoji="0" lang="ru-RU" altLang="ru-RU" sz="1000" b="1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</a:rPr>
              <a:t>*Подробная транскрипция интервью</a:t>
            </a:r>
            <a:r>
              <a:rPr kumimoji="0" lang="ru-RU" altLang="ru-RU" sz="1000" b="1" i="0" u="none" strike="noStrike" cap="none" normalizeH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</a:rPr>
              <a:t> в </a:t>
            </a:r>
            <a:r>
              <a:rPr kumimoji="0" lang="en-US" altLang="ru-RU" sz="1000" b="1" i="0" u="none" strike="noStrike" cap="none" normalizeH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</a:rPr>
              <a:t>Word-</a:t>
            </a:r>
            <a:r>
              <a:rPr kumimoji="0" lang="ru-RU" altLang="ru-RU" sz="1000" b="1" i="0" u="none" strike="noStrike" cap="none" normalizeH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</a:rPr>
              <a:t>файле «Глубинное интервью»</a:t>
            </a:r>
            <a:endParaRPr kumimoji="0" lang="ru-RU" altLang="ru-RU" sz="1000" b="1" i="0" u="none" strike="noStrike" cap="none" normalizeH="0" baseline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03EA4C-607C-B25D-DF00-3F4412053FA7}"/>
              </a:ext>
            </a:extLst>
          </p:cNvPr>
          <p:cNvSpPr txBox="1"/>
          <p:nvPr/>
        </p:nvSpPr>
        <p:spPr>
          <a:xfrm>
            <a:off x="1545592" y="133082"/>
            <a:ext cx="879987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200" b="1" i="1" dirty="0">
                <a:latin typeface="Montserrat" pitchFamily="2" charset="-52"/>
              </a:rPr>
              <a:t>Приложение 3: Отчет по глубинным интервью</a:t>
            </a:r>
          </a:p>
        </p:txBody>
      </p:sp>
    </p:spTree>
    <p:extLst>
      <p:ext uri="{BB962C8B-B14F-4D97-AF65-F5344CB8AC3E}">
        <p14:creationId xmlns:p14="http://schemas.microsoft.com/office/powerpoint/2010/main" val="11115365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B4B8E1C0-89FB-52F2-2111-702EF4341F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952" y="517189"/>
            <a:ext cx="10472095" cy="622453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8F6F93F-7554-C7C8-05BA-993A09AB0289}"/>
              </a:ext>
            </a:extLst>
          </p:cNvPr>
          <p:cNvSpPr txBox="1"/>
          <p:nvPr/>
        </p:nvSpPr>
        <p:spPr>
          <a:xfrm>
            <a:off x="978791" y="116276"/>
            <a:ext cx="1023441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200" b="1" i="1" dirty="0">
                <a:latin typeface="Montserrat" pitchFamily="2" charset="-52"/>
              </a:rPr>
              <a:t>Приложение</a:t>
            </a:r>
            <a:r>
              <a:rPr lang="ru-RU" sz="2200" b="1" i="1" dirty="0"/>
              <a:t> </a:t>
            </a:r>
            <a:r>
              <a:rPr lang="en-US" sz="2200" b="1" i="1" dirty="0">
                <a:latin typeface="Montserrat" pitchFamily="2" charset="-52"/>
              </a:rPr>
              <a:t>4</a:t>
            </a:r>
            <a:r>
              <a:rPr lang="ru-RU" sz="2200" b="1" i="1" dirty="0">
                <a:latin typeface="Montserrat" pitchFamily="2" charset="-52"/>
              </a:rPr>
              <a:t>: Карта пользовательских историй USM</a:t>
            </a:r>
            <a:endParaRPr lang="ru-RU" sz="2200" b="1" dirty="0">
              <a:latin typeface="Montserrat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335650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318D915-DAF8-6E30-5222-9FAA7B791F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727" y="1096585"/>
            <a:ext cx="2240014" cy="4869596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971D239-419F-5AFB-53CD-6EA33CFE63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1069" y="1095381"/>
            <a:ext cx="2240568" cy="4870800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3ACC57E-AF27-0E06-739A-A623680941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804" y="1095381"/>
            <a:ext cx="2240568" cy="4870800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DD4C060-26FF-2D69-A15D-A3CC69DFF5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5271" y="1095381"/>
            <a:ext cx="2240568" cy="4870800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472E567-9D4F-C7FA-60A5-5FB2E9A93174}"/>
              </a:ext>
            </a:extLst>
          </p:cNvPr>
          <p:cNvSpPr txBox="1"/>
          <p:nvPr/>
        </p:nvSpPr>
        <p:spPr>
          <a:xfrm>
            <a:off x="618742" y="133715"/>
            <a:ext cx="10954515" cy="639643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200" b="1" i="1" dirty="0" err="1">
                <a:latin typeface="Montserrat" pitchFamily="2" charset="-52"/>
                <a:ea typeface="+mj-ea"/>
                <a:cs typeface="+mj-cs"/>
              </a:rPr>
              <a:t>Приложение</a:t>
            </a:r>
            <a:r>
              <a:rPr lang="en-US" sz="2200" b="1" i="1" dirty="0">
                <a:latin typeface="Montserrat" pitchFamily="2" charset="-52"/>
                <a:ea typeface="+mj-ea"/>
                <a:cs typeface="+mj-cs"/>
              </a:rPr>
              <a:t> 5: </a:t>
            </a:r>
            <a:r>
              <a:rPr lang="en-US" sz="2200" b="1" i="1" dirty="0" err="1">
                <a:latin typeface="Montserrat" pitchFamily="2" charset="-52"/>
                <a:ea typeface="+mj-ea"/>
                <a:cs typeface="+mj-cs"/>
              </a:rPr>
              <a:t>Интерактивный</a:t>
            </a:r>
            <a:r>
              <a:rPr lang="en-US" sz="2200" b="1" i="1" dirty="0">
                <a:latin typeface="Montserrat" pitchFamily="2" charset="-52"/>
                <a:ea typeface="+mj-ea"/>
                <a:cs typeface="+mj-cs"/>
              </a:rPr>
              <a:t> Lo-Fi </a:t>
            </a:r>
            <a:r>
              <a:rPr lang="en-US" sz="2200" b="1" i="1" dirty="0" err="1">
                <a:latin typeface="Montserrat" pitchFamily="2" charset="-52"/>
                <a:ea typeface="+mj-ea"/>
                <a:cs typeface="+mj-cs"/>
              </a:rPr>
              <a:t>прототип</a:t>
            </a:r>
            <a:endParaRPr lang="en-US" sz="2200" b="1" dirty="0">
              <a:latin typeface="Montserrat" pitchFamily="2" charset="-52"/>
              <a:ea typeface="+mj-ea"/>
              <a:cs typeface="+mj-cs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569051C-0820-4471-842F-1B3484D86A0A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844087" y="945279"/>
            <a:ext cx="2529294" cy="5086973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DEEBD8C-57EF-1C5F-9D57-FA0479F27D29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3566706" y="945279"/>
            <a:ext cx="2529294" cy="5086972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2AAEFC6-6057-626E-9592-F31675A3EEBA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6289326" y="945281"/>
            <a:ext cx="2529294" cy="5086972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7A61933-5966-6BB5-61A4-86BD8817C3AF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9060908" y="945281"/>
            <a:ext cx="2529294" cy="5086972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pic>
      <p:sp>
        <p:nvSpPr>
          <p:cNvPr id="8" name="Прямоугольник: скругленные углы 7">
            <a:hlinkClick r:id="rId7"/>
            <a:extLst>
              <a:ext uri="{FF2B5EF4-FFF2-40B4-BE49-F238E27FC236}">
                <a16:creationId xmlns:a16="http://schemas.microsoft.com/office/drawing/2014/main" id="{D3BF9842-3A0A-FB62-3E0A-8D5DDD33A2D9}"/>
              </a:ext>
            </a:extLst>
          </p:cNvPr>
          <p:cNvSpPr/>
          <p:nvPr/>
        </p:nvSpPr>
        <p:spPr>
          <a:xfrm>
            <a:off x="9205271" y="6204176"/>
            <a:ext cx="2455277" cy="334005"/>
          </a:xfrm>
          <a:prstGeom prst="roundRect">
            <a:avLst/>
          </a:prstGeom>
          <a:solidFill>
            <a:srgbClr val="0B25F3"/>
          </a:solidFill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050" dirty="0">
                <a:solidFill>
                  <a:schemeClr val="bg1"/>
                </a:solidFill>
                <a:latin typeface="Montserrat" pitchFamily="2" charset="-52"/>
              </a:rPr>
              <a:t>Открыть прототип в </a:t>
            </a:r>
            <a:r>
              <a:rPr lang="en-US" sz="1050" dirty="0">
                <a:solidFill>
                  <a:schemeClr val="bg1"/>
                </a:solidFill>
                <a:latin typeface="Montserrat" pitchFamily="2" charset="-52"/>
              </a:rPr>
              <a:t>Figma</a:t>
            </a:r>
            <a:endParaRPr lang="ru-RU" sz="1050" dirty="0">
              <a:solidFill>
                <a:schemeClr val="bg1"/>
              </a:solidFill>
              <a:latin typeface="Montserrat" pitchFamily="2" charset="-52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8BF600E-F3F5-A5B3-6237-D43C27643A9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2005" y="6240417"/>
            <a:ext cx="261522" cy="261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2342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Тема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5810BCC37EF2C409DA07B716D10CE6E" ma:contentTypeVersion="8" ma:contentTypeDescription="Create a new document." ma:contentTypeScope="" ma:versionID="3317ca681070845f3ea4d25ac4df03cd">
  <xsd:schema xmlns:xsd="http://www.w3.org/2001/XMLSchema" xmlns:xs="http://www.w3.org/2001/XMLSchema" xmlns:p="http://schemas.microsoft.com/office/2006/metadata/properties" xmlns:ns3="3f673c80-9514-4169-a9bc-f0ecf4aa33bd" targetNamespace="http://schemas.microsoft.com/office/2006/metadata/properties" ma:root="true" ma:fieldsID="e6cf63385b11234dda1d0c0850954f62" ns3:_="">
    <xsd:import namespace="3f673c80-9514-4169-a9bc-f0ecf4aa33bd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673c80-9514-4169-a9bc-f0ecf4aa33bd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f673c80-9514-4169-a9bc-f0ecf4aa33bd" xsi:nil="true"/>
  </documentManagement>
</p:properties>
</file>

<file path=customXml/itemProps1.xml><?xml version="1.0" encoding="utf-8"?>
<ds:datastoreItem xmlns:ds="http://schemas.openxmlformats.org/officeDocument/2006/customXml" ds:itemID="{AE23EDD3-8F8A-4976-9AD7-AA76EC6E661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f673c80-9514-4169-a9bc-f0ecf4aa33b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9806FE5-0614-4B59-8002-B929AC2BD05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0112787-7614-4069-98B1-4377DE80AF94}">
  <ds:schemaRefs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purl.org/dc/elements/1.1/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3f673c80-9514-4169-a9bc-f0ecf4aa33bd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4778</TotalTime>
  <Words>1635</Words>
  <Application>Microsoft Office PowerPoint</Application>
  <PresentationFormat>Широкоэкранный</PresentationFormat>
  <Paragraphs>126</Paragraphs>
  <Slides>12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21" baseType="lpstr">
      <vt:lpstr>Aptos</vt:lpstr>
      <vt:lpstr>Aptos Display</vt:lpstr>
      <vt:lpstr>Arial</vt:lpstr>
      <vt:lpstr>Cambria Math</vt:lpstr>
      <vt:lpstr>Inter Medium</vt:lpstr>
      <vt:lpstr>Montserrat</vt:lpstr>
      <vt:lpstr>Montserrat Black</vt:lpstr>
      <vt:lpstr>Roboto Mono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t43548</dc:creator>
  <cp:lastModifiedBy>Илья Слипенко</cp:lastModifiedBy>
  <cp:revision>11</cp:revision>
  <dcterms:created xsi:type="dcterms:W3CDTF">2026-03-12T12:04:59Z</dcterms:created>
  <dcterms:modified xsi:type="dcterms:W3CDTF">2026-07-03T15:00:51Z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0x010100B5810BCC37EF2C409DA07B716D10CE6E</vt:lpwstr>
  </property>
</Properties>
</file>